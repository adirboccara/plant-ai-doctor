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Lato" panose="020F0502020204030203" pitchFamily="34" charset="0"/>
      <p:regular r:id="rId8"/>
      <p:bold r:id="rId9"/>
      <p:italic r:id="rId10"/>
      <p:boldItalic r:id="rId11"/>
    </p:embeddedFont>
    <p:embeddedFont>
      <p:font typeface="Poppins" panose="000005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7F2"/>
    <a:srgbClr val="F2F0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CD99EE-3B33-495E-8B26-C36832713664}">
  <a:tblStyle styleId="{C6CD99EE-3B33-495E-8B26-C3683271366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1.png"/><Relationship Id="rId21" Type="http://schemas.openxmlformats.org/officeDocument/2006/relationships/image" Target="../media/image25.jpe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0.jpeg"/><Relationship Id="rId20" Type="http://schemas.openxmlformats.org/officeDocument/2006/relationships/image" Target="../media/image2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jpe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10" Type="http://schemas.openxmlformats.org/officeDocument/2006/relationships/image" Target="../media/image14.png"/><Relationship Id="rId19" Type="http://schemas.openxmlformats.org/officeDocument/2006/relationships/image" Target="../media/image23.jpe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552700"/>
            <a:ext cx="3587799" cy="4131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02174" y="2552700"/>
            <a:ext cx="3587799" cy="4131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52700"/>
            <a:ext cx="3587799" cy="413176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2915602" y="476250"/>
            <a:ext cx="6360795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dirty="0">
                <a:solidFill>
                  <a:srgbClr val="4A5D23"/>
                </a:solidFill>
                <a:latin typeface="Poppins"/>
                <a:cs typeface="Poppins"/>
                <a:sym typeface="Poppins"/>
              </a:rPr>
              <a:t>Plant</a:t>
            </a:r>
            <a:r>
              <a:rPr lang="en-US" sz="6300" b="1" i="0" u="none" strike="noStrike" cap="none" dirty="0">
                <a:solidFill>
                  <a:srgbClr val="4A5D2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6300" i="0" u="none" strike="noStrike" cap="none" dirty="0">
                <a:solidFill>
                  <a:srgbClr val="4A5D23"/>
                </a:solidFill>
                <a:latin typeface="Poppins"/>
                <a:ea typeface="Poppins"/>
                <a:cs typeface="Poppins"/>
                <a:sym typeface="Poppins"/>
              </a:rPr>
              <a:t>AI Doctor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3295650" y="1962150"/>
            <a:ext cx="5600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06C38"/>
                </a:solidFill>
                <a:latin typeface="Lato"/>
                <a:ea typeface="Lato"/>
                <a:cs typeface="Lato"/>
                <a:sym typeface="Lato"/>
              </a:rPr>
              <a:t>INTERIM PROJECT PRESENTATION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19150" y="3609975"/>
            <a:ext cx="30470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5D23"/>
                </a:solidFill>
                <a:latin typeface="Poppins"/>
                <a:ea typeface="Poppins"/>
                <a:cs typeface="Poppins"/>
                <a:sym typeface="Poppins"/>
              </a:rPr>
              <a:t>Motivation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19150" y="4419600"/>
            <a:ext cx="2901999" cy="176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Farmers struggle to distinguish chemical damage from biological diseases in tomato leaves. Visual similarity leads to wrong treatment and yield loss.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645074" y="3609975"/>
            <a:ext cx="30470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5D23"/>
                </a:solidFill>
                <a:latin typeface="Poppins"/>
                <a:ea typeface="Poppins"/>
                <a:cs typeface="Poppins"/>
                <a:sym typeface="Poppins"/>
              </a:rPr>
              <a:t>The Pivot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645074" y="4419600"/>
            <a:ext cx="2901999" cy="146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Shift from multiclass to binary classification: chemical vs. disease. This focus is clearer and technically more feasible for data limitations.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470999" y="3609975"/>
            <a:ext cx="30470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5D23"/>
                </a:solidFill>
                <a:latin typeface="Poppins"/>
                <a:ea typeface="Poppins"/>
                <a:cs typeface="Poppins"/>
                <a:sym typeface="Poppins"/>
              </a:rPr>
              <a:t>Novelty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470999" y="4419600"/>
            <a:ext cx="2901999" cy="146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One of the first datasets for chemical vs. biological distinction, leveraging Generative AI for advanced synthetic data generation.</a:t>
            </a:r>
            <a:endParaRPr/>
          </a:p>
        </p:txBody>
      </p:sp>
      <p:pic>
        <p:nvPicPr>
          <p:cNvPr id="96" name="Google Shape;96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28956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89560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0999" y="2895600"/>
            <a:ext cx="5334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" name="Google Shape;104;p14"/>
          <p:cNvGraphicFramePr/>
          <p:nvPr>
            <p:extLst>
              <p:ext uri="{D42A27DB-BD31-4B8C-83A1-F6EECF244321}">
                <p14:modId xmlns:p14="http://schemas.microsoft.com/office/powerpoint/2010/main" val="292715748"/>
              </p:ext>
            </p:extLst>
          </p:nvPr>
        </p:nvGraphicFramePr>
        <p:xfrm>
          <a:off x="476250" y="1304925"/>
          <a:ext cx="11248925" cy="4674200"/>
        </p:xfrm>
        <a:graphic>
          <a:graphicData uri="http://schemas.openxmlformats.org/drawingml/2006/table">
            <a:tbl>
              <a:tblPr firstRow="1" bandRow="1">
                <a:noFill/>
                <a:tableStyleId>{C6CD99EE-3B33-495E-8B26-C36832713664}</a:tableStyleId>
              </a:tblPr>
              <a:tblGrid>
                <a:gridCol w="179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4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25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68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Paper (Year)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5D2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Task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5D2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Methods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5D2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5D2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Results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5D2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Relation to Project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5D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8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62" b="1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Tomato Leaf Disease Segmentation (2022)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62" b="0" i="0" u="none" strike="noStrike" cap="none" dirty="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Disease classification + segmentation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62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U-Net segmentation + CNN classifier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62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18K tomato leaf images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62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accuracy: segmentation improves performance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62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Works only on diseases, not chemical vs disease (our novelty)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8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62" b="1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Efficient Tomato Disease Detection (2025)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62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Disease detection (efficient model)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62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 CNN model (E-TomatoDet)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62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Tomato leaf dataset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62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detection performance (mAP ≈ 97.2%)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62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Shows SOTA disease detection, but no chemical damage classification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8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62" b="1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Review of Tomato Leaf DL Methods (2025)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62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Review of DL methods for tomato leaf diseases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62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Survey of CNNs, segmentation, preprocessing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62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Multiple tomato datasets (e.g., PlantVillage)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62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Identifies major limitations in datasets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62" b="0" i="0" u="none" strike="noStrike" cap="none" dirty="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Highlights gap: no dataset for chemical vs disease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5" name="Google Shape;105;p14"/>
          <p:cNvSpPr txBox="1"/>
          <p:nvPr/>
        </p:nvSpPr>
        <p:spPr>
          <a:xfrm>
            <a:off x="666750" y="381000"/>
            <a:ext cx="115252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0" u="none" strike="noStrike" cap="none" dirty="0">
                <a:solidFill>
                  <a:srgbClr val="4A5D23"/>
                </a:solidFill>
                <a:latin typeface="Poppins"/>
                <a:ea typeface="Poppins"/>
                <a:cs typeface="Poppins"/>
                <a:sym typeface="Poppins"/>
              </a:rPr>
              <a:t>Scientific Literature Review</a:t>
            </a:r>
            <a:endParaRPr dirty="0"/>
          </a:p>
        </p:txBody>
      </p:sp>
      <p:sp>
        <p:nvSpPr>
          <p:cNvPr id="106" name="Google Shape;106;p14"/>
          <p:cNvSpPr/>
          <p:nvPr/>
        </p:nvSpPr>
        <p:spPr>
          <a:xfrm>
            <a:off x="476250" y="381000"/>
            <a:ext cx="95250" cy="685800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65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49" y="5413710"/>
            <a:ext cx="4524375" cy="1063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43500" y="1304925"/>
            <a:ext cx="1535906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22281" y="1304925"/>
            <a:ext cx="1535906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01062" y="1304925"/>
            <a:ext cx="1535906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>
          <a:blip r:embed="rId8">
            <a:alphaModFix/>
          </a:blip>
          <a:srcRect/>
          <a:stretch/>
        </p:blipFill>
        <p:spPr>
          <a:xfrm>
            <a:off x="10217943" y="1323975"/>
            <a:ext cx="1478756" cy="15049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143500" y="3162300"/>
            <a:ext cx="1535906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22281" y="3162300"/>
            <a:ext cx="1535906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501062" y="3162300"/>
            <a:ext cx="1535906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179843" y="3162300"/>
            <a:ext cx="1535906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400050" y="1306078"/>
            <a:ext cx="46005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4A5D23"/>
                </a:solidFill>
                <a:latin typeface="Poppins"/>
                <a:ea typeface="Poppins"/>
                <a:cs typeface="Poppins"/>
                <a:sym typeface="Poppins"/>
              </a:rPr>
              <a:t>Dataset Components</a:t>
            </a:r>
            <a:endParaRPr sz="2000"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400050" y="3333907"/>
            <a:ext cx="46005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4A5D23"/>
                </a:solidFill>
                <a:latin typeface="Poppins"/>
                <a:ea typeface="Poppins"/>
                <a:cs typeface="Poppins"/>
                <a:sym typeface="Poppins"/>
              </a:rPr>
              <a:t>EDA &amp; Strategy</a:t>
            </a:r>
            <a:endParaRPr sz="1800"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652232" y="1761714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759619" y="1684105"/>
            <a:ext cx="40005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Real Images: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157 total images (RGB).</a:t>
            </a:r>
            <a:endParaRPr sz="1800"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644244" y="2043891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740108" y="1973059"/>
            <a:ext cx="40005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Chemical damage: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67 images.</a:t>
            </a:r>
            <a:endParaRPr sz="1800"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644858" y="2324703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769144" y="2262013"/>
            <a:ext cx="40005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Biological disease: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90 images.</a:t>
            </a:r>
            <a:endParaRPr sz="1600" dirty="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675661" y="3780131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801213" y="3697047"/>
            <a:ext cx="4427837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Class Imbalance: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Slight (chemical &lt; biological).</a:t>
            </a:r>
            <a:endParaRPr sz="1800" dirty="0"/>
          </a:p>
        </p:txBody>
      </p:sp>
      <p:sp>
        <p:nvSpPr>
          <p:cNvPr id="131" name="Google Shape;131;p15"/>
          <p:cNvSpPr txBox="1"/>
          <p:nvPr/>
        </p:nvSpPr>
        <p:spPr>
          <a:xfrm>
            <a:off x="664369" y="4080058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801213" y="4014830"/>
            <a:ext cx="40005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Split: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Train / Val / Test (no overlap).</a:t>
            </a:r>
            <a:endParaRPr sz="1800" dirty="0"/>
          </a:p>
        </p:txBody>
      </p:sp>
      <p:sp>
        <p:nvSpPr>
          <p:cNvPr id="133" name="Google Shape;133;p15"/>
          <p:cNvSpPr txBox="1"/>
          <p:nvPr/>
        </p:nvSpPr>
        <p:spPr>
          <a:xfrm>
            <a:off x="571500" y="5460311"/>
            <a:ext cx="40957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4A5D23"/>
                </a:solidFill>
                <a:latin typeface="Lato"/>
                <a:ea typeface="Lato"/>
                <a:cs typeface="Lato"/>
                <a:sym typeface="Lato"/>
              </a:rPr>
              <a:t>Future Strategy:</a:t>
            </a:r>
            <a:endParaRPr sz="1800" dirty="0"/>
          </a:p>
        </p:txBody>
      </p:sp>
      <p:sp>
        <p:nvSpPr>
          <p:cNvPr id="134" name="Google Shape;134;p15"/>
          <p:cNvSpPr txBox="1"/>
          <p:nvPr/>
        </p:nvSpPr>
        <p:spPr>
          <a:xfrm>
            <a:off x="607414" y="5856759"/>
            <a:ext cx="465038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Synthetic data generation via Stable Diffusion and ControlNet to address data scarcity and balance classes.</a:t>
            </a:r>
            <a:endParaRPr sz="1600" dirty="0"/>
          </a:p>
        </p:txBody>
      </p:sp>
      <p:pic>
        <p:nvPicPr>
          <p:cNvPr id="135" name="Google Shape;135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162550" y="1323975"/>
            <a:ext cx="1497806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/>
          <p:nvPr/>
        </p:nvSpPr>
        <p:spPr>
          <a:xfrm>
            <a:off x="5162550" y="2800350"/>
            <a:ext cx="1497806" cy="200025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5257800" y="2828925"/>
            <a:ext cx="130730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Chemical Damage</a:t>
            </a:r>
            <a:endParaRPr dirty="0"/>
          </a:p>
        </p:txBody>
      </p:sp>
      <p:pic>
        <p:nvPicPr>
          <p:cNvPr id="138" name="Google Shape;138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841331" y="1323975"/>
            <a:ext cx="1497806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/>
          <p:nvPr/>
        </p:nvSpPr>
        <p:spPr>
          <a:xfrm>
            <a:off x="6841331" y="2800350"/>
            <a:ext cx="1497806" cy="200025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6936581" y="2828925"/>
            <a:ext cx="130730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Chemical Damage</a:t>
            </a:r>
            <a:endParaRPr dirty="0"/>
          </a:p>
        </p:txBody>
      </p:sp>
      <p:pic>
        <p:nvPicPr>
          <p:cNvPr id="141" name="Google Shape;141;p15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520112" y="1323975"/>
            <a:ext cx="1497806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/>
          <p:nvPr/>
        </p:nvSpPr>
        <p:spPr>
          <a:xfrm>
            <a:off x="8520112" y="2800350"/>
            <a:ext cx="1497806" cy="200025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8615362" y="2828925"/>
            <a:ext cx="130730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Chemical Damage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10198893" y="2800350"/>
            <a:ext cx="1497806" cy="200025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10294143" y="2828925"/>
            <a:ext cx="130730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Chemical Damage</a:t>
            </a:r>
            <a:endParaRPr/>
          </a:p>
        </p:txBody>
      </p:sp>
      <p:pic>
        <p:nvPicPr>
          <p:cNvPr id="147" name="Google Shape;147;p15"/>
          <p:cNvPicPr preferRelativeResize="0"/>
          <p:nvPr/>
        </p:nvPicPr>
        <p:blipFill>
          <a:blip r:embed="rId16"/>
          <a:srcRect/>
          <a:stretch/>
        </p:blipFill>
        <p:spPr>
          <a:xfrm>
            <a:off x="5152850" y="3199883"/>
            <a:ext cx="1507506" cy="15344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48" name="Google Shape;148;p15"/>
          <p:cNvSpPr/>
          <p:nvPr/>
        </p:nvSpPr>
        <p:spPr>
          <a:xfrm>
            <a:off x="5152850" y="4679018"/>
            <a:ext cx="1526556" cy="193736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5061171" y="4706680"/>
            <a:ext cx="156448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Biological Disease</a:t>
            </a:r>
            <a:endParaRPr dirty="0"/>
          </a:p>
        </p:txBody>
      </p:sp>
      <p:pic>
        <p:nvPicPr>
          <p:cNvPr id="150" name="Google Shape;150;p15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841331" y="3181350"/>
            <a:ext cx="1497806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6841331" y="4657725"/>
            <a:ext cx="1497806" cy="200025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6936581" y="4686300"/>
            <a:ext cx="130730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Biological Disease</a:t>
            </a:r>
            <a:endParaRPr/>
          </a:p>
        </p:txBody>
      </p:sp>
      <p:pic>
        <p:nvPicPr>
          <p:cNvPr id="153" name="Google Shape;153;p15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520112" y="3181350"/>
            <a:ext cx="1497806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/>
          <p:nvPr/>
        </p:nvSpPr>
        <p:spPr>
          <a:xfrm>
            <a:off x="8520112" y="4657725"/>
            <a:ext cx="1497806" cy="200025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8615362" y="4686300"/>
            <a:ext cx="130730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Biological Disease</a:t>
            </a:r>
            <a:endParaRPr/>
          </a:p>
        </p:txBody>
      </p:sp>
      <p:pic>
        <p:nvPicPr>
          <p:cNvPr id="156" name="Google Shape;156;p15"/>
          <p:cNvPicPr preferRelativeResize="0"/>
          <p:nvPr/>
        </p:nvPicPr>
        <p:blipFill>
          <a:blip r:embed="rId19">
            <a:alphaModFix/>
          </a:blip>
          <a:srcRect/>
          <a:stretch/>
        </p:blipFill>
        <p:spPr>
          <a:xfrm>
            <a:off x="10198893" y="3189685"/>
            <a:ext cx="1497806" cy="15787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57" name="Google Shape;157;p15"/>
          <p:cNvSpPr/>
          <p:nvPr/>
        </p:nvSpPr>
        <p:spPr>
          <a:xfrm>
            <a:off x="10198893" y="4657725"/>
            <a:ext cx="1497806" cy="200025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10294143" y="4686300"/>
            <a:ext cx="130730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Biological Disease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666750" y="381000"/>
            <a:ext cx="115252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0" u="none" strike="noStrike" cap="none" dirty="0">
                <a:solidFill>
                  <a:srgbClr val="4A5D23"/>
                </a:solidFill>
                <a:latin typeface="Poppins"/>
                <a:ea typeface="Poppins"/>
                <a:cs typeface="Poppins"/>
                <a:sym typeface="Poppins"/>
              </a:rPr>
              <a:t>Dataset Analysis &amp; Visual Samples</a:t>
            </a:r>
            <a:endParaRPr dirty="0"/>
          </a:p>
        </p:txBody>
      </p:sp>
      <p:sp>
        <p:nvSpPr>
          <p:cNvPr id="160" name="Google Shape;160;p15"/>
          <p:cNvSpPr/>
          <p:nvPr/>
        </p:nvSpPr>
        <p:spPr>
          <a:xfrm>
            <a:off x="476250" y="381000"/>
            <a:ext cx="95250" cy="685800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58CE0074-48CD-3814-574F-6B371E21210E}"/>
              </a:ext>
            </a:extLst>
          </p:cNvPr>
          <p:cNvSpPr txBox="1"/>
          <p:nvPr/>
        </p:nvSpPr>
        <p:spPr>
          <a:xfrm>
            <a:off x="801213" y="2600842"/>
            <a:ext cx="46005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333333"/>
                </a:solidFill>
                <a:latin typeface="Lato"/>
              </a:rPr>
              <a:t>Labels: </a:t>
            </a:r>
            <a:r>
              <a:rPr lang="en-US" sz="1600" dirty="0">
                <a:solidFill>
                  <a:srgbClr val="333333"/>
                </a:solidFill>
                <a:latin typeface="Lato"/>
              </a:rPr>
              <a:t>assigned at the image level based on damage type</a:t>
            </a:r>
          </a:p>
        </p:txBody>
      </p:sp>
      <p:sp>
        <p:nvSpPr>
          <p:cNvPr id="6" name="Google Shape;131;p15">
            <a:extLst>
              <a:ext uri="{FF2B5EF4-FFF2-40B4-BE49-F238E27FC236}">
                <a16:creationId xmlns:a16="http://schemas.microsoft.com/office/drawing/2014/main" id="{44996481-9ECD-E2C0-172F-3D7AB957108E}"/>
              </a:ext>
            </a:extLst>
          </p:cNvPr>
          <p:cNvSpPr txBox="1"/>
          <p:nvPr/>
        </p:nvSpPr>
        <p:spPr>
          <a:xfrm>
            <a:off x="664369" y="4411004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FBD2A7C6-E0B4-B2A6-43AF-A4488A8C00C0}"/>
              </a:ext>
            </a:extLst>
          </p:cNvPr>
          <p:cNvSpPr txBox="1"/>
          <p:nvPr/>
        </p:nvSpPr>
        <p:spPr>
          <a:xfrm>
            <a:off x="699857" y="4338435"/>
            <a:ext cx="43386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333333"/>
                </a:solidFill>
                <a:latin typeface="Lato"/>
              </a:rPr>
              <a:t>Format: </a:t>
            </a:r>
            <a:r>
              <a:rPr lang="en-US" sz="1600" dirty="0">
                <a:solidFill>
                  <a:srgbClr val="333333"/>
                </a:solidFill>
                <a:latin typeface="Lato"/>
              </a:rPr>
              <a:t>RGB images, varying resolutions and backgrounds.</a:t>
            </a:r>
          </a:p>
        </p:txBody>
      </p:sp>
      <p:sp>
        <p:nvSpPr>
          <p:cNvPr id="10" name="Google Shape;127;p15">
            <a:extLst>
              <a:ext uri="{FF2B5EF4-FFF2-40B4-BE49-F238E27FC236}">
                <a16:creationId xmlns:a16="http://schemas.microsoft.com/office/drawing/2014/main" id="{F83A697E-6642-2550-B6E8-69F800460511}"/>
              </a:ext>
            </a:extLst>
          </p:cNvPr>
          <p:cNvSpPr txBox="1"/>
          <p:nvPr/>
        </p:nvSpPr>
        <p:spPr>
          <a:xfrm>
            <a:off x="644244" y="2600702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pic>
        <p:nvPicPr>
          <p:cNvPr id="5" name="Google Shape;147;p15">
            <a:extLst>
              <a:ext uri="{FF2B5EF4-FFF2-40B4-BE49-F238E27FC236}">
                <a16:creationId xmlns:a16="http://schemas.microsoft.com/office/drawing/2014/main" id="{C04050D8-5D8E-A34C-2FDE-E07C4DEDA7B9}"/>
              </a:ext>
            </a:extLst>
          </p:cNvPr>
          <p:cNvPicPr preferRelativeResize="0"/>
          <p:nvPr/>
        </p:nvPicPr>
        <p:blipFill>
          <a:blip r:embed="rId20"/>
          <a:srcRect/>
          <a:stretch/>
        </p:blipFill>
        <p:spPr>
          <a:xfrm>
            <a:off x="5133283" y="5039017"/>
            <a:ext cx="1497806" cy="14978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4" name="מלבן 13">
            <a:extLst>
              <a:ext uri="{FF2B5EF4-FFF2-40B4-BE49-F238E27FC236}">
                <a16:creationId xmlns:a16="http://schemas.microsoft.com/office/drawing/2014/main" id="{2070F41A-CCBB-4361-2529-1FE81985CF28}"/>
              </a:ext>
            </a:extLst>
          </p:cNvPr>
          <p:cNvSpPr/>
          <p:nvPr/>
        </p:nvSpPr>
        <p:spPr>
          <a:xfrm>
            <a:off x="5127846" y="6536823"/>
            <a:ext cx="1497806" cy="19387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C5A2A17A-1A91-14F4-534D-22C49F351FA4}"/>
              </a:ext>
            </a:extLst>
          </p:cNvPr>
          <p:cNvSpPr/>
          <p:nvPr/>
        </p:nvSpPr>
        <p:spPr>
          <a:xfrm>
            <a:off x="6846839" y="6545371"/>
            <a:ext cx="1497806" cy="19387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6" name="Google Shape;137;p15">
            <a:extLst>
              <a:ext uri="{FF2B5EF4-FFF2-40B4-BE49-F238E27FC236}">
                <a16:creationId xmlns:a16="http://schemas.microsoft.com/office/drawing/2014/main" id="{DFCB9BD7-EFF1-A80A-F774-FFF11840D877}"/>
              </a:ext>
            </a:extLst>
          </p:cNvPr>
          <p:cNvSpPr txBox="1"/>
          <p:nvPr/>
        </p:nvSpPr>
        <p:spPr>
          <a:xfrm>
            <a:off x="6689416" y="6591181"/>
            <a:ext cx="180873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Synthetic Chemical Damage</a:t>
            </a:r>
            <a:endParaRPr dirty="0"/>
          </a:p>
        </p:txBody>
      </p:sp>
      <p:sp>
        <p:nvSpPr>
          <p:cNvPr id="17" name="Google Shape;137;p15">
            <a:extLst>
              <a:ext uri="{FF2B5EF4-FFF2-40B4-BE49-F238E27FC236}">
                <a16:creationId xmlns:a16="http://schemas.microsoft.com/office/drawing/2014/main" id="{EA849113-BBAE-FDD1-FC1F-33291FF639D7}"/>
              </a:ext>
            </a:extLst>
          </p:cNvPr>
          <p:cNvSpPr txBox="1"/>
          <p:nvPr/>
        </p:nvSpPr>
        <p:spPr>
          <a:xfrm>
            <a:off x="4953185" y="6591714"/>
            <a:ext cx="180873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Synthetic Chemical Damage</a:t>
            </a:r>
            <a:endParaRPr dirty="0"/>
          </a:p>
        </p:txBody>
      </p:sp>
      <p:pic>
        <p:nvPicPr>
          <p:cNvPr id="19" name="תמונה 18" descr="תמונה שמכילה צמח, עשב תיבול, ירוק, ע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D5A3EB7-36F5-C6AA-EFEF-1F7B13642E8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35338" y="5039016"/>
            <a:ext cx="1535905" cy="15359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0" name="תמונה 19">
            <a:extLst>
              <a:ext uri="{FF2B5EF4-FFF2-40B4-BE49-F238E27FC236}">
                <a16:creationId xmlns:a16="http://schemas.microsoft.com/office/drawing/2014/main" id="{17A2D42F-4C2A-3086-FA7C-5913888FAE71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8571579" y="5070992"/>
            <a:ext cx="1520189" cy="15201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5" name="מלבן 24">
            <a:extLst>
              <a:ext uri="{FF2B5EF4-FFF2-40B4-BE49-F238E27FC236}">
                <a16:creationId xmlns:a16="http://schemas.microsoft.com/office/drawing/2014/main" id="{F7EE2CC7-C741-6AFF-7AF1-DE2AFDD0BD0C}"/>
              </a:ext>
            </a:extLst>
          </p:cNvPr>
          <p:cNvSpPr/>
          <p:nvPr/>
        </p:nvSpPr>
        <p:spPr>
          <a:xfrm>
            <a:off x="8573618" y="6574921"/>
            <a:ext cx="1497806" cy="19387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EA610F4F-B192-0552-09B9-C207C6CB377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29564" y="6555008"/>
            <a:ext cx="1804572" cy="249958"/>
          </a:xfrm>
          <a:prstGeom prst="rect">
            <a:avLst/>
          </a:prstGeom>
        </p:spPr>
      </p:pic>
      <p:sp>
        <p:nvSpPr>
          <p:cNvPr id="28" name="מלבן 27">
            <a:extLst>
              <a:ext uri="{FF2B5EF4-FFF2-40B4-BE49-F238E27FC236}">
                <a16:creationId xmlns:a16="http://schemas.microsoft.com/office/drawing/2014/main" id="{37823457-8B7D-069A-7501-0B172BE0AF02}"/>
              </a:ext>
            </a:extLst>
          </p:cNvPr>
          <p:cNvSpPr/>
          <p:nvPr/>
        </p:nvSpPr>
        <p:spPr>
          <a:xfrm>
            <a:off x="10237969" y="6562020"/>
            <a:ext cx="1497806" cy="19387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29" name="תמונה 28">
            <a:extLst>
              <a:ext uri="{FF2B5EF4-FFF2-40B4-BE49-F238E27FC236}">
                <a16:creationId xmlns:a16="http://schemas.microsoft.com/office/drawing/2014/main" id="{DE3E8D26-712A-6133-5177-A5B10D961E1F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10226777" y="5037362"/>
            <a:ext cx="1520189" cy="15201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0" name="תמונה 29">
            <a:extLst>
              <a:ext uri="{FF2B5EF4-FFF2-40B4-BE49-F238E27FC236}">
                <a16:creationId xmlns:a16="http://schemas.microsoft.com/office/drawing/2014/main" id="{88D2D98C-F676-BE36-F7C2-06C80CEF5D0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77511" y="6547515"/>
            <a:ext cx="1804572" cy="2499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3500" y="1304925"/>
            <a:ext cx="6572250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476250" y="1504950"/>
            <a:ext cx="43815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Baseline Approach:</a:t>
            </a:r>
            <a:r>
              <a:rPr lang="en-US" sz="1575" b="0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Pretrained ResNet18 CNN adapted for binary classification. </a:t>
            </a:r>
            <a:r>
              <a:rPr lang="en-US" sz="1575" i="0" u="none" strike="noStrike" cap="none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Uses minimal modifications</a:t>
            </a:r>
            <a:r>
              <a:rPr lang="en-US" sz="1575" dirty="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50" dirty="0">
                <a:solidFill>
                  <a:srgbClr val="274E13"/>
                </a:solidFill>
                <a:latin typeface="Lato"/>
                <a:ea typeface="Lato"/>
                <a:cs typeface="Lato"/>
                <a:sym typeface="Lato"/>
              </a:rPr>
              <a:t>No synthetic data used at this stage</a:t>
            </a:r>
            <a:endParaRPr sz="1550" dirty="0">
              <a:solidFill>
                <a:srgbClr val="274E13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476250" y="4352925"/>
            <a:ext cx="438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4A5D23"/>
                </a:solidFill>
                <a:latin typeface="Lato"/>
                <a:ea typeface="Lato"/>
                <a:cs typeface="Lato"/>
                <a:sym typeface="Lato"/>
              </a:rPr>
              <a:t>No classification errors were observed on the validation and test sets.</a:t>
            </a:r>
            <a:endParaRPr dirty="0"/>
          </a:p>
        </p:txBody>
      </p:sp>
      <p:sp>
        <p:nvSpPr>
          <p:cNvPr id="169" name="Google Shape;169;p16"/>
          <p:cNvSpPr txBox="1"/>
          <p:nvPr/>
        </p:nvSpPr>
        <p:spPr>
          <a:xfrm>
            <a:off x="5438775" y="1600200"/>
            <a:ext cx="62807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4A5D23"/>
                </a:solidFill>
                <a:latin typeface="Poppins"/>
                <a:ea typeface="Poppins"/>
                <a:cs typeface="Poppins"/>
                <a:sym typeface="Poppins"/>
              </a:rPr>
              <a:t>Performance Assessment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5438775" y="2066925"/>
            <a:ext cx="5981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The perfect accuracy is likely due to: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5438775" y="3352800"/>
            <a:ext cx="5981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A5D23"/>
                </a:solidFill>
                <a:latin typeface="Lato"/>
                <a:ea typeface="Lato"/>
                <a:cs typeface="Lato"/>
                <a:sym typeface="Lato"/>
              </a:rPr>
              <a:t>Conclusion: Results suggest potential overfitting. Accuracy alone is insufficient to assess model robustness.</a:t>
            </a:r>
            <a:endParaRPr dirty="0"/>
          </a:p>
        </p:txBody>
      </p:sp>
      <p:graphicFrame>
        <p:nvGraphicFramePr>
          <p:cNvPr id="172" name="Google Shape;172;p16"/>
          <p:cNvGraphicFramePr/>
          <p:nvPr/>
        </p:nvGraphicFramePr>
        <p:xfrm>
          <a:off x="476250" y="2409825"/>
          <a:ext cx="4286250" cy="1704975"/>
        </p:xfrm>
        <a:graphic>
          <a:graphicData uri="http://schemas.openxmlformats.org/drawingml/2006/table">
            <a:tbl>
              <a:tblPr firstRow="1" bandRow="1">
                <a:noFill/>
                <a:tableStyleId>{C6CD99EE-3B33-495E-8B26-C36832713664}</a:tableStyleId>
              </a:tblPr>
              <a:tblGrid>
                <a:gridCol w="290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Dataset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606C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AF7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06C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D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FAF7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06C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06C3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AF7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D8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2E4D2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Validation (real)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606C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2E4D2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06C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AF7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4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2E4D2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 (real)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606C3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4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D8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A5D2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2E4D2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F4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06C3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4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06C3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3" name="Google Shape;173;p16"/>
          <p:cNvSpPr txBox="1"/>
          <p:nvPr/>
        </p:nvSpPr>
        <p:spPr>
          <a:xfrm>
            <a:off x="5724525" y="246697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5819775" y="2486025"/>
            <a:ext cx="56007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Small size of current real dataset.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5724525" y="267652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5819775" y="2695575"/>
            <a:ext cx="56007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Powerful pretrained ResNet model.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5724525" y="2886075"/>
            <a:ext cx="95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5819775" y="2905125"/>
            <a:ext cx="56007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Strong visual cues in the dataset.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666750" y="381000"/>
            <a:ext cx="115252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0" u="none" strike="noStrike" cap="none" dirty="0">
                <a:solidFill>
                  <a:srgbClr val="4A5D23"/>
                </a:solidFill>
                <a:latin typeface="Poppins"/>
                <a:ea typeface="Poppins"/>
                <a:cs typeface="Poppins"/>
                <a:sym typeface="Poppins"/>
              </a:rPr>
              <a:t>Baseline Solution and Results</a:t>
            </a:r>
            <a:endParaRPr dirty="0"/>
          </a:p>
        </p:txBody>
      </p:sp>
      <p:sp>
        <p:nvSpPr>
          <p:cNvPr id="180" name="Google Shape;180;p16"/>
          <p:cNvSpPr/>
          <p:nvPr/>
        </p:nvSpPr>
        <p:spPr>
          <a:xfrm>
            <a:off x="476250" y="381000"/>
            <a:ext cx="95250" cy="685800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6" name="Google Shape;186;p17"/>
          <p:cNvGraphicFramePr/>
          <p:nvPr>
            <p:extLst>
              <p:ext uri="{D42A27DB-BD31-4B8C-83A1-F6EECF244321}">
                <p14:modId xmlns:p14="http://schemas.microsoft.com/office/powerpoint/2010/main" val="391793651"/>
              </p:ext>
            </p:extLst>
          </p:nvPr>
        </p:nvGraphicFramePr>
        <p:xfrm>
          <a:off x="476250" y="1304925"/>
          <a:ext cx="11229975" cy="3984400"/>
        </p:xfrm>
        <a:graphic>
          <a:graphicData uri="http://schemas.openxmlformats.org/drawingml/2006/table">
            <a:tbl>
              <a:tblPr firstRow="1" bandRow="1">
                <a:noFill/>
                <a:tableStyleId>{C6CD99EE-3B33-495E-8B26-C36832713664}</a:tableStyleId>
              </a:tblPr>
              <a:tblGrid>
                <a:gridCol w="89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3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Step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D2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Scope / Description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D2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Models &amp; Techniques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D2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Expected Outcome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D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Synthetic chemical data generation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Stable Diffusion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Balanced chemical image dataset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Realistic damage pattern refinement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Inpainting, ControlNet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Localized, realistic damage areas </a:t>
                      </a:r>
                      <a:r>
                        <a:rPr lang="en-US" sz="1350" b="0" i="0" u="none" strike="noStrike" cap="none" dirty="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patterns</a:t>
                      </a:r>
                      <a:endParaRPr sz="1350" b="0" i="0" u="none" strike="noStrike" cap="none" dirty="0">
                        <a:solidFill>
                          <a:srgbClr val="333333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Dataset Expansion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Merge Real + Synthetic (train only)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Robust training set for higher generalization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Updated Model Retraining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ResNet18 (Fine-tuning)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Enhanced classifier performance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Robustness Validation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Crop / Illumination changes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Verified stability in varying conditions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Final Submission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Results summary and presentation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Completion of Final Presentation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7" name="Google Shape;187;p17"/>
          <p:cNvSpPr txBox="1"/>
          <p:nvPr/>
        </p:nvSpPr>
        <p:spPr>
          <a:xfrm>
            <a:off x="666750" y="381000"/>
            <a:ext cx="115252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0" u="none" strike="noStrike" cap="none" dirty="0">
                <a:solidFill>
                  <a:srgbClr val="4A5D23"/>
                </a:solidFill>
                <a:latin typeface="Poppins"/>
                <a:ea typeface="Poppins"/>
                <a:cs typeface="Poppins"/>
                <a:sym typeface="Poppins"/>
              </a:rPr>
              <a:t>Execution Roadmap</a:t>
            </a:r>
            <a:endParaRPr dirty="0"/>
          </a:p>
        </p:txBody>
      </p:sp>
      <p:sp>
        <p:nvSpPr>
          <p:cNvPr id="188" name="Google Shape;188;p17"/>
          <p:cNvSpPr/>
          <p:nvPr/>
        </p:nvSpPr>
        <p:spPr>
          <a:xfrm>
            <a:off x="476250" y="381000"/>
            <a:ext cx="95250" cy="685800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528</Words>
  <Application>Microsoft Office PowerPoint</Application>
  <PresentationFormat>מסך רחב</PresentationFormat>
  <Paragraphs>109</Paragraphs>
  <Slides>5</Slides>
  <Notes>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10" baseType="lpstr">
      <vt:lpstr>Lato</vt:lpstr>
      <vt:lpstr>Calibri</vt:lpstr>
      <vt:lpstr>Arial</vt:lpstr>
      <vt:lpstr>Poppins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Eden Charkachi</cp:lastModifiedBy>
  <cp:revision>5</cp:revision>
  <dcterms:modified xsi:type="dcterms:W3CDTF">2025-12-22T14:22:44Z</dcterms:modified>
</cp:coreProperties>
</file>