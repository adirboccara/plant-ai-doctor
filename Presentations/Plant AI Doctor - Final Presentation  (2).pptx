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61" r:id="rId4"/>
    <p:sldId id="262" r:id="rId5"/>
    <p:sldId id="263" r:id="rId6"/>
    <p:sldId id="258" r:id="rId7"/>
    <p:sldId id="259" r:id="rId8"/>
    <p:sldId id="260" r:id="rId9"/>
    <p:sldId id="264" r:id="rId10"/>
  </p:sldIdLst>
  <p:sldSz cx="12192000" cy="6858000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4332"/>
    <a:srgbClr val="F1F7F9"/>
    <a:srgbClr val="E5F3F7"/>
    <a:srgbClr val="F6FBFC"/>
    <a:srgbClr val="2D6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FF0427-65A7-45ED-8689-4C173B132956}">
  <a:tblStyle styleId="{0BFF0427-65A7-45ED-8689-4C173B13295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A55D295-9302-808A-30C2-B2E585F88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815FFF52-155A-086F-B9DF-8B16792D2C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2A8924B0-B060-9211-1F16-6025957D7C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6889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9282475-0DE7-C5EF-172D-0C15C4F86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8F3795A7-DDDC-78B5-5415-6458FD4E1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2C7789FC-1A63-D35D-BDD7-C432122E0A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3709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CDE042D-3794-CC80-90CE-2C9C5DF36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F6F75352-BDA0-FE57-135C-3F88B7238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B3C155A1-EBA5-644A-ABA3-AE5AEEFAA1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3117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0E9BEE91-9BDB-B12D-A7EA-9F4AB0A81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>
            <a:extLst>
              <a:ext uri="{FF2B5EF4-FFF2-40B4-BE49-F238E27FC236}">
                <a16:creationId xmlns:a16="http://schemas.microsoft.com/office/drawing/2014/main" id="{F2A65AD8-1CAB-D8E9-1B96-FBC5B2AD8E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>
            <a:extLst>
              <a:ext uri="{FF2B5EF4-FFF2-40B4-BE49-F238E27FC236}">
                <a16:creationId xmlns:a16="http://schemas.microsoft.com/office/drawing/2014/main" id="{78EC8D48-735D-BD61-7AA8-049DB20B6D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173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8682" y="1291158"/>
            <a:ext cx="10477500" cy="42756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35392" y="1900683"/>
            <a:ext cx="9721215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Plant AI Doctor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466850" y="2761654"/>
            <a:ext cx="9258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52B788"/>
                </a:solidFill>
                <a:latin typeface="Lato"/>
                <a:ea typeface="Lato"/>
                <a:cs typeface="Lato"/>
                <a:sym typeface="Lato"/>
              </a:rPr>
              <a:t>Solving Data Scarcity via Generative AI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466850" y="3542704"/>
            <a:ext cx="466058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1466850" y="3866554"/>
            <a:ext cx="4438650" cy="1905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466850" y="4028479"/>
            <a:ext cx="44386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Severe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Scarcity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 agricultural chemical damage imagery leads to misdiagnosis, as herbicide drift often mimics biological diseases.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286500" y="3542704"/>
            <a:ext cx="466058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The Innovation</a:t>
            </a:r>
            <a:endParaRPr dirty="0"/>
          </a:p>
        </p:txBody>
      </p:sp>
      <p:sp>
        <p:nvSpPr>
          <p:cNvPr id="92" name="Google Shape;92;p13"/>
          <p:cNvSpPr/>
          <p:nvPr/>
        </p:nvSpPr>
        <p:spPr>
          <a:xfrm>
            <a:off x="6286500" y="3866554"/>
            <a:ext cx="4438650" cy="1905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286500" y="3945574"/>
            <a:ext cx="4438650" cy="131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Utilizing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Stable Diffusion + ControlNet +</a:t>
            </a:r>
            <a:r>
              <a:rPr lang="en-US" sz="1425" b="1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Vertex API +ResNet18+ Inpainting 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generate controlled synthetic datasets, enhancing agricultural resilience through precision diagnostics.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9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6931"/>
            <a:ext cx="5334000" cy="3548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12181"/>
            <a:ext cx="5334000" cy="335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901332"/>
            <a:ext cx="4743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4" y="3909243"/>
            <a:ext cx="4121497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66775" y="2412206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Domain Generalization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66775" y="2688431"/>
            <a:ext cx="4743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transformed a model blind-spot into a specialized diagnostic skill through synthetic reinforcement.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4387032"/>
            <a:ext cx="47434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1B4332"/>
                </a:solidFill>
                <a:latin typeface="Lato"/>
                <a:ea typeface="Lato"/>
                <a:cs typeface="Lato"/>
                <a:sym typeface="Lato"/>
              </a:rPr>
              <a:t>Major milestone in synthetic-to-real transfer.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6581775" y="2507456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Key Novelties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66775" y="3626645"/>
            <a:ext cx="47434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Plant AI Doctor Recall (Chemical)</a:t>
            </a:r>
            <a:endParaRPr dirty="0"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6762" y="4488655"/>
            <a:ext cx="2000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6915150" y="2936081"/>
            <a:ext cx="44100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Purely Synthetic Learning: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Proven ability to teach a model an entirely new category using 100% synthetic data.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915150" y="3893343"/>
            <a:ext cx="44100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Zero-Leakage Training: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Ensuring the model learns the conceptual pathology rather than pixel patterns.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915150" y="4579143"/>
            <a:ext cx="44100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SOTA Robustness: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Exceptional recall on unseen, heterogeneous real-world samples.</a:t>
            </a:r>
            <a:endParaRPr dirty="0"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296941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392668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4612481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Performance Leap &amp; Innovation</a:t>
            </a:r>
            <a:endParaRPr dirty="0"/>
          </a:p>
        </p:txBody>
      </p:sp>
      <p:sp>
        <p:nvSpPr>
          <p:cNvPr id="119" name="Google Shape;119;p14"/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9"/>
        </a:solid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7D910E70-AE5F-856D-D726-192D82C1E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>
            <a:extLst>
              <a:ext uri="{FF2B5EF4-FFF2-40B4-BE49-F238E27FC236}">
                <a16:creationId xmlns:a16="http://schemas.microsoft.com/office/drawing/2014/main" id="{340B0EFB-CB3C-AE49-8FD0-2844FCFE64A4}"/>
              </a:ext>
            </a:extLst>
          </p:cNvPr>
          <p:cNvSpPr txBox="1"/>
          <p:nvPr/>
        </p:nvSpPr>
        <p:spPr>
          <a:xfrm>
            <a:off x="802998" y="1311360"/>
            <a:ext cx="3365097" cy="163737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1B4332"/>
                </a:solidFill>
                <a:latin typeface="Poppins"/>
                <a:cs typeface="Poppins"/>
                <a:sym typeface="Poppins"/>
              </a:rPr>
              <a:t>Synthetic Data</a:t>
            </a:r>
          </a:p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kern="1200" dirty="0">
              <a:solidFill>
                <a:srgbClr val="2D6A4F"/>
              </a:solidFill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pic>
        <p:nvPicPr>
          <p:cNvPr id="14" name="תמונה 13" descr="תמונה שמכילה קרקע, פתולוגית צמחים, עובש, בחוץ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1AAFA8B-C2C8-CD0F-3059-00B2B65EB5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9" r="-4" b="4868"/>
          <a:stretch>
            <a:fillRect/>
          </a:stretch>
        </p:blipFill>
        <p:spPr>
          <a:xfrm>
            <a:off x="4662597" y="-2"/>
            <a:ext cx="2376092" cy="2228759"/>
          </a:xfrm>
          <a:prstGeom prst="rect">
            <a:avLst/>
          </a:prstGeom>
        </p:spPr>
      </p:pic>
      <p:pic>
        <p:nvPicPr>
          <p:cNvPr id="5" name="תמונה 4" descr="תמונה שמכילה קרקע, פטריה, עובש, פתולוגית צמח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B0E987A-0307-7B21-5863-0566B3C74C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23" r="-4" b="2274"/>
          <a:stretch>
            <a:fillRect/>
          </a:stretch>
        </p:blipFill>
        <p:spPr>
          <a:xfrm>
            <a:off x="7233039" y="-2446"/>
            <a:ext cx="2376092" cy="2228759"/>
          </a:xfrm>
          <a:prstGeom prst="rect">
            <a:avLst/>
          </a:prstGeom>
        </p:spPr>
      </p:pic>
      <p:pic>
        <p:nvPicPr>
          <p:cNvPr id="24" name="תמונה 23" descr="תמונה שמכילה בחוץ, עלה, פתולוגית צמחים, צמח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C6789BE-90C7-AB3C-DD03-86071FEF91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201" r="-4" b="-4"/>
          <a:stretch>
            <a:fillRect/>
          </a:stretch>
        </p:blipFill>
        <p:spPr>
          <a:xfrm>
            <a:off x="9803480" y="-10223"/>
            <a:ext cx="2376092" cy="2228759"/>
          </a:xfrm>
          <a:prstGeom prst="rect">
            <a:avLst/>
          </a:prstGeom>
        </p:spPr>
      </p:pic>
      <p:pic>
        <p:nvPicPr>
          <p:cNvPr id="10" name="תמונה 9" descr="תמונה שמכילה עלה, פתולוגית צמחים, ירוק, צמח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7F5C670-CD2F-10E2-19BC-C300D2AD02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833" r="5" b="20391"/>
          <a:stretch>
            <a:fillRect/>
          </a:stretch>
        </p:blipFill>
        <p:spPr>
          <a:xfrm>
            <a:off x="4657342" y="2400151"/>
            <a:ext cx="3330225" cy="2057368"/>
          </a:xfrm>
          <a:prstGeom prst="rect">
            <a:avLst/>
          </a:prstGeom>
        </p:spPr>
      </p:pic>
      <p:pic>
        <p:nvPicPr>
          <p:cNvPr id="16" name="תמונה 15" descr="תמונה שמכילה עלה, שרך פידלהד, צמח, ירוק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32A4872-078E-0A62-9EF1-A96E3093BAD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645" r="-5" b="29303"/>
          <a:stretch>
            <a:fillRect/>
          </a:stretch>
        </p:blipFill>
        <p:spPr>
          <a:xfrm>
            <a:off x="4653627" y="4628909"/>
            <a:ext cx="3324552" cy="2229090"/>
          </a:xfrm>
          <a:prstGeom prst="rect">
            <a:avLst/>
          </a:prstGeom>
        </p:spPr>
      </p:pic>
      <p:pic>
        <p:nvPicPr>
          <p:cNvPr id="8" name="תמונה 7" descr="תמונה שמכילה עלה, סתיו, צמח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0AF1B03-2CE2-8ABE-011D-4C07C4DABC9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90" r="9061" b="3"/>
          <a:stretch>
            <a:fillRect/>
          </a:stretch>
        </p:blipFill>
        <p:spPr>
          <a:xfrm>
            <a:off x="8183036" y="2400151"/>
            <a:ext cx="3996536" cy="4457850"/>
          </a:xfrm>
          <a:prstGeom prst="rect">
            <a:avLst/>
          </a:prstGeom>
        </p:spPr>
      </p:pic>
      <p:sp>
        <p:nvSpPr>
          <p:cNvPr id="136" name="Google Shape;136;p15">
            <a:extLst>
              <a:ext uri="{FF2B5EF4-FFF2-40B4-BE49-F238E27FC236}">
                <a16:creationId xmlns:a16="http://schemas.microsoft.com/office/drawing/2014/main" id="{4BF3BEA4-E171-82E3-CAA5-0A56F0C83466}"/>
              </a:ext>
            </a:extLst>
          </p:cNvPr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תמונה 2" descr="תמונה שמכילה טקסט, גופן, צילום מסך, מסמ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21E7408-0A49-F3C9-27C1-CA3E1F13E2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763" y="2400151"/>
            <a:ext cx="4551834" cy="368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60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9"/>
        </a:solid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08BD4326-4B3F-CE83-C9A8-99638858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>
            <a:extLst>
              <a:ext uri="{FF2B5EF4-FFF2-40B4-BE49-F238E27FC236}">
                <a16:creationId xmlns:a16="http://schemas.microsoft.com/office/drawing/2014/main" id="{71EFED09-981E-D1F8-9A8A-198377D883A0}"/>
              </a:ext>
            </a:extLst>
          </p:cNvPr>
          <p:cNvSpPr txBox="1"/>
          <p:nvPr/>
        </p:nvSpPr>
        <p:spPr>
          <a:xfrm>
            <a:off x="802998" y="1311360"/>
            <a:ext cx="3365097" cy="163737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1B4332"/>
                </a:solidFill>
                <a:latin typeface="Poppins"/>
                <a:cs typeface="Poppins"/>
                <a:sym typeface="Poppins"/>
              </a:rPr>
              <a:t>Synthetic Data</a:t>
            </a:r>
          </a:p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kern="1200" dirty="0">
              <a:solidFill>
                <a:srgbClr val="2D6A4F"/>
              </a:solidFill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136" name="Google Shape;136;p15">
            <a:extLst>
              <a:ext uri="{FF2B5EF4-FFF2-40B4-BE49-F238E27FC236}">
                <a16:creationId xmlns:a16="http://schemas.microsoft.com/office/drawing/2014/main" id="{4CBD5F98-1F81-E6E4-667B-09421EF19D0C}"/>
              </a:ext>
            </a:extLst>
          </p:cNvPr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תמונה 5" descr="תמונה שמכילה ע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46BFEDA-D1E9-5E7C-C715-3C9BAA6C9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349" y="842962"/>
            <a:ext cx="6087115" cy="3109010"/>
          </a:xfrm>
          <a:prstGeom prst="rect">
            <a:avLst/>
          </a:prstGeom>
        </p:spPr>
      </p:pic>
      <p:pic>
        <p:nvPicPr>
          <p:cNvPr id="3" name="תמונה 2" descr="תמונה שמכילה טקסט, חרק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FDB3CE2-20A4-242C-39E1-1AC0214AB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706" y="4282408"/>
            <a:ext cx="6756400" cy="2183162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678D4576-06D4-4DFD-105F-DC501910C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133" y="2504998"/>
            <a:ext cx="4318825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 Engine: Stable Diffusion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Generates photorealistic textures and environmental effects based on specific text prompts.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5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Method: Masked Inpainting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Focuses the generation process only on targeted areas, preserving the original background and healthy leaf tissue.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Structural Guidance: ControlNet (Canny)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Uses edge detection to maintain the leaf’s original shape and vein structure, ensuring the AI-generated damage stays perfectly within the natural boundaries</a:t>
            </a:r>
          </a:p>
        </p:txBody>
      </p:sp>
    </p:spTree>
    <p:extLst>
      <p:ext uri="{BB962C8B-B14F-4D97-AF65-F5344CB8AC3E}">
        <p14:creationId xmlns:p14="http://schemas.microsoft.com/office/powerpoint/2010/main" val="3464302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9"/>
        </a:solid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BB60ABBF-F558-3382-CBAB-99FB23D5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>
            <a:extLst>
              <a:ext uri="{FF2B5EF4-FFF2-40B4-BE49-F238E27FC236}">
                <a16:creationId xmlns:a16="http://schemas.microsoft.com/office/drawing/2014/main" id="{E045DEFC-62A9-4E2A-E483-D46F70A16DF1}"/>
              </a:ext>
            </a:extLst>
          </p:cNvPr>
          <p:cNvSpPr txBox="1"/>
          <p:nvPr/>
        </p:nvSpPr>
        <p:spPr>
          <a:xfrm>
            <a:off x="802998" y="1311360"/>
            <a:ext cx="3365097" cy="163737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1B4332"/>
                </a:solidFill>
                <a:latin typeface="Poppins"/>
                <a:cs typeface="Poppins"/>
                <a:sym typeface="Poppins"/>
              </a:rPr>
              <a:t>Synthetic Data</a:t>
            </a:r>
          </a:p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kern="1200" dirty="0">
              <a:solidFill>
                <a:srgbClr val="2D6A4F"/>
              </a:solidFill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136" name="Google Shape;136;p15">
            <a:extLst>
              <a:ext uri="{FF2B5EF4-FFF2-40B4-BE49-F238E27FC236}">
                <a16:creationId xmlns:a16="http://schemas.microsoft.com/office/drawing/2014/main" id="{CFFAA96B-1833-C439-F8A2-CE90D06037FF}"/>
              </a:ext>
            </a:extLst>
          </p:cNvPr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תמונה 2" descr="תמונה שמכילה טקסט, ע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EFE18D1-951A-CF30-9D08-BE75EFBF8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262" y="1774261"/>
            <a:ext cx="8079740" cy="4564128"/>
          </a:xfrm>
          <a:prstGeom prst="rect">
            <a:avLst/>
          </a:prstGeom>
          <a:ln w="38100" cap="sq">
            <a:solidFill>
              <a:srgbClr val="1B4332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0044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9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47911"/>
            <a:ext cx="5334000" cy="3551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66775" y="2643187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Data &amp; Model Pipeline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1200150" y="3071812"/>
            <a:ext cx="44100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Hybrid Dataset: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690 real biological images vs. 677 high-fidelity synthetic chemical images.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1200150" y="3881435"/>
            <a:ext cx="44100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ControlNet: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Maintains the structural integrity of leaf veins and anatomical geometry.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1185862" y="4736843"/>
            <a:ext cx="44100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Architecture: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ResNet18 Transfer Learning optimized for complex texture detection.</a:t>
            </a:r>
            <a:endParaRPr dirty="0"/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31051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318" y="3906173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318" y="477970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Methodology &amp; Technical Effort</a:t>
            </a:r>
            <a:endParaRPr dirty="0"/>
          </a:p>
        </p:txBody>
      </p:sp>
      <p:sp>
        <p:nvSpPr>
          <p:cNvPr id="136" name="Google Shape;136;p15"/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25;p15" descr="image.png">
            <a:extLst>
              <a:ext uri="{FF2B5EF4-FFF2-40B4-BE49-F238E27FC236}">
                <a16:creationId xmlns:a16="http://schemas.microsoft.com/office/drawing/2014/main" id="{A6F38AB7-6C76-D4DE-2F87-CD5C8CEAA5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7937" y="2306096"/>
            <a:ext cx="5334000" cy="355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title="WhatsApp Image 2026-01-19 at 14.52.52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62712" y="2746343"/>
            <a:ext cx="1915959" cy="29710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3D7F65B-7309-15FB-E9A9-8FC4C1449F6D}"/>
              </a:ext>
            </a:extLst>
          </p:cNvPr>
          <p:cNvSpPr txBox="1"/>
          <p:nvPr/>
        </p:nvSpPr>
        <p:spPr>
          <a:xfrm>
            <a:off x="6357937" y="2373431"/>
            <a:ext cx="6096000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sz="1404" b="1" dirty="0">
                <a:solidFill>
                  <a:srgbClr val="1B4332"/>
                </a:solidFill>
                <a:latin typeface="Poppins"/>
                <a:cs typeface="Poppins"/>
              </a:rPr>
              <a:t>Stress Test (Center Crop)</a:t>
            </a:r>
          </a:p>
          <a:p>
            <a:pPr>
              <a:buNone/>
            </a:pPr>
            <a:br>
              <a:rPr lang="en-US" sz="1404" b="1" dirty="0">
                <a:solidFill>
                  <a:srgbClr val="1B4332"/>
                </a:solidFill>
                <a:latin typeface="Poppins"/>
                <a:cs typeface="Poppins"/>
              </a:rPr>
            </a:br>
            <a:endParaRPr lang="en-US" sz="1404" b="1" dirty="0">
              <a:solidFill>
                <a:srgbClr val="1B4332"/>
              </a:solidFill>
              <a:latin typeface="Poppins"/>
              <a:cs typeface="Poppins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3B10F5C3-BCE0-B938-BE17-EBA75F9717A3}"/>
              </a:ext>
            </a:extLst>
          </p:cNvPr>
          <p:cNvSpPr txBox="1"/>
          <p:nvPr/>
        </p:nvSpPr>
        <p:spPr>
          <a:xfrm>
            <a:off x="8430577" y="2659792"/>
            <a:ext cx="3189923" cy="1369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9964"/>
              </a:lnSpc>
            </a:pPr>
            <a:r>
              <a:rPr lang="en-US" sz="1430" b="1" i="0" u="none" strike="noStrike" cap="none" dirty="0">
                <a:solidFill>
                  <a:srgbClr val="1B4332"/>
                </a:solidFill>
                <a:latin typeface="Lato"/>
                <a:ea typeface="Lato"/>
                <a:cs typeface="Lato"/>
                <a:sym typeface="Lato"/>
              </a:rPr>
              <a:t>Verification</a:t>
            </a:r>
            <a:r>
              <a:rPr lang="en-US" sz="143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430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Center Crop was applied to strip away background clues, forcing the model to classify based strictly on leaf pathology textures.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41B6190-7176-A789-A771-50682AA80608}"/>
              </a:ext>
            </a:extLst>
          </p:cNvPr>
          <p:cNvSpPr txBox="1"/>
          <p:nvPr/>
        </p:nvSpPr>
        <p:spPr>
          <a:xfrm>
            <a:off x="8440342" y="4115787"/>
            <a:ext cx="3189923" cy="1670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9964"/>
              </a:lnSpc>
            </a:pPr>
            <a:r>
              <a:rPr lang="en-US" b="1" dirty="0">
                <a:solidFill>
                  <a:srgbClr val="1B433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Insight: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validates that the model's predictions are based on leaf texture and pathological features rather than irrelevant background elements.</a:t>
            </a:r>
            <a:endParaRPr lang="en-US" sz="1430" dirty="0">
              <a:solidFill>
                <a:srgbClr val="33415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9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86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571500" y="2059781"/>
            <a:ext cx="5334000" cy="3109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4" name="Google Shape;144;p16"/>
          <p:cNvGraphicFramePr/>
          <p:nvPr>
            <p:extLst>
              <p:ext uri="{D42A27DB-BD31-4B8C-83A1-F6EECF244321}">
                <p14:modId xmlns:p14="http://schemas.microsoft.com/office/powerpoint/2010/main" val="2324744160"/>
              </p:ext>
            </p:extLst>
          </p:nvPr>
        </p:nvGraphicFramePr>
        <p:xfrm>
          <a:off x="571499" y="2069698"/>
          <a:ext cx="5334000" cy="3109875"/>
        </p:xfrm>
        <a:graphic>
          <a:graphicData uri="http://schemas.openxmlformats.org/drawingml/2006/table">
            <a:tbl>
              <a:tblPr firstRow="1" bandRow="1">
                <a:noFill/>
                <a:tableStyleId>{0BFF0427-65A7-45ED-8689-4C173B132956}</a:tableStyleId>
              </a:tblPr>
              <a:tblGrid>
                <a:gridCol w="236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 dirty="0">
                          <a:solidFill>
                            <a:schemeClr val="bg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Performance Metric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 dirty="0">
                          <a:solidFill>
                            <a:schemeClr val="bg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Baseline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 dirty="0">
                          <a:solidFill>
                            <a:schemeClr val="bg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Plant AI Doctor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Chemical Damage 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425" b="1" i="0" u="none" strike="noStrike" cap="none" dirty="0">
                          <a:solidFill>
                            <a:srgbClr val="EF4444"/>
                          </a:solidFill>
                          <a:latin typeface="Lato"/>
                          <a:ea typeface="Lato"/>
                          <a:sym typeface="Lato"/>
                        </a:rPr>
                        <a:t>---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425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93.44</a:t>
                      </a:r>
                      <a:r>
                        <a:rPr lang="en-US" sz="1425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Biological Specificity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97.0%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100.0%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Stress Test Robustness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N/A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86.89%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5" name="Google Shape;145;p16"/>
          <p:cNvSpPr txBox="1"/>
          <p:nvPr/>
        </p:nvSpPr>
        <p:spPr>
          <a:xfrm>
            <a:off x="618631" y="5360193"/>
            <a:ext cx="533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standard model is blind to chemical damage; ours is an expert.</a:t>
            </a:r>
            <a:br>
              <a:rPr lang="en-US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*Stress tests </a:t>
            </a: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conducted using isolated center-crops to prevent background shortcut learning.</a:t>
            </a:r>
            <a:endParaRPr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610076" y="5468227"/>
            <a:ext cx="53149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Validation: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Zero misidentification between categories.</a:t>
            </a:r>
            <a:endParaRPr sz="1600" dirty="0"/>
          </a:p>
        </p:txBody>
      </p:sp>
      <p:sp>
        <p:nvSpPr>
          <p:cNvPr id="148" name="Google Shape;148;p16"/>
          <p:cNvSpPr/>
          <p:nvPr/>
        </p:nvSpPr>
        <p:spPr>
          <a:xfrm>
            <a:off x="571500" y="3283743"/>
            <a:ext cx="23620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933551" y="3283743"/>
            <a:ext cx="11712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104828" y="3283743"/>
            <a:ext cx="180067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71500" y="3907631"/>
            <a:ext cx="23620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2933551" y="3907631"/>
            <a:ext cx="11712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4104828" y="3907631"/>
            <a:ext cx="180067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71500" y="4531518"/>
            <a:ext cx="23620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2933551" y="4531518"/>
            <a:ext cx="11712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4104828" y="4531518"/>
            <a:ext cx="180067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571500" y="5155406"/>
            <a:ext cx="23620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2933551" y="5155406"/>
            <a:ext cx="11712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4104828" y="5155406"/>
            <a:ext cx="180067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790575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Quantitative Comparison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BF43ACFE-211F-25F6-CA87-4D437E6992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95440" y="2452474"/>
            <a:ext cx="4229586" cy="2961736"/>
          </a:xfrm>
          <a:prstGeom prst="rect">
            <a:avLst/>
          </a:prstGeom>
          <a:ln w="38100" cap="sq">
            <a:solidFill>
              <a:srgbClr val="2D6A4F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3FC973DB-7DE0-D590-C33B-BA7E3841DCDC}"/>
              </a:ext>
            </a:extLst>
          </p:cNvPr>
          <p:cNvSpPr txBox="1"/>
          <p:nvPr/>
        </p:nvSpPr>
        <p:spPr>
          <a:xfrm>
            <a:off x="6350223" y="2133922"/>
            <a:ext cx="6174658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b="1" i="0" dirty="0">
                <a:solidFill>
                  <a:srgbClr val="2D6A4F"/>
                </a:solidFill>
                <a:effectLst/>
                <a:latin typeface="Poppins" panose="00000500000000000000" pitchFamily="2" charset="0"/>
              </a:rPr>
              <a:t>Confusion Matrix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9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151" y="1646282"/>
            <a:ext cx="5334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51575" y="1646282"/>
            <a:ext cx="533400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628650" y="1756995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Interpretability (Grad-CAM)</a:t>
            </a:r>
            <a:endParaRPr dirty="0"/>
          </a:p>
        </p:txBody>
      </p:sp>
      <p:sp>
        <p:nvSpPr>
          <p:cNvPr id="173" name="Google Shape;173;p17"/>
          <p:cNvSpPr txBox="1"/>
          <p:nvPr/>
        </p:nvSpPr>
        <p:spPr>
          <a:xfrm>
            <a:off x="508635" y="4224458"/>
            <a:ext cx="443281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Epinasty Limitations: </a:t>
            </a: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failures occurred in cases with extreme structural leaf distortion (Epinasty), which SD + ControlNet currently struggle to replicate perfectly.</a:t>
            </a:r>
            <a:endParaRPr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6567963" y="1814386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Challenge: Morphological Distortion</a:t>
            </a:r>
            <a:endParaRPr dirty="0"/>
          </a:p>
        </p:txBody>
      </p:sp>
      <p:sp>
        <p:nvSpPr>
          <p:cNvPr id="175" name="Google Shape;175;p17"/>
          <p:cNvSpPr txBox="1"/>
          <p:nvPr/>
        </p:nvSpPr>
        <p:spPr>
          <a:xfrm>
            <a:off x="6462712" y="4291036"/>
            <a:ext cx="4743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Targeted Focus:</a:t>
            </a: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Saliency maps confirm the model correctly focuses on burn textures rather than environmental artifacts.</a:t>
            </a:r>
            <a:endParaRPr sz="10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762000" y="571500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dirty="0">
                <a:solidFill>
                  <a:srgbClr val="1B4332"/>
                </a:solidFill>
                <a:latin typeface="Poppins"/>
                <a:cs typeface="Poppins"/>
              </a:rPr>
              <a:t>Failure Analysis</a:t>
            </a:r>
            <a:endParaRPr sz="2850" b="1" dirty="0">
              <a:solidFill>
                <a:srgbClr val="1B4332"/>
              </a:solidFill>
              <a:latin typeface="Poppins"/>
              <a:cs typeface="Poppins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תמונה 2" descr="תמונה שמכילה טקס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204041F-AE38-AE66-C0FC-0D275B5084A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184" t="454" r="1572" b="9621"/>
          <a:stretch>
            <a:fillRect/>
          </a:stretch>
        </p:blipFill>
        <p:spPr>
          <a:xfrm>
            <a:off x="421641" y="2256056"/>
            <a:ext cx="5113019" cy="19305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5" name="תמונה 4" descr="תמונה שמכילה צילום מסך, טקסט, צבעונ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FE8919B-B243-8921-419E-58B82C67F5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534" t="1783" r="1363" b="858"/>
          <a:stretch>
            <a:fillRect/>
          </a:stretch>
        </p:blipFill>
        <p:spPr>
          <a:xfrm>
            <a:off x="6357937" y="2323794"/>
            <a:ext cx="5191125" cy="19814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DA192E68-79E7-1964-E8D9-5A661631F1C9}"/>
              </a:ext>
            </a:extLst>
          </p:cNvPr>
          <p:cNvSpPr txBox="1"/>
          <p:nvPr/>
        </p:nvSpPr>
        <p:spPr>
          <a:xfrm>
            <a:off x="508635" y="5395178"/>
            <a:ext cx="85496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200" b="1" i="0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Methodology: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Using Grad-CAM visualization to identify "attention shifts" in the model.</a:t>
            </a:r>
            <a:b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200" b="1" i="0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Objective: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Refine edge-case detection and further minimize False Negatives in complex environmental conditions.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EC7ED9E2-D479-11A3-29AC-FDDC2378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>
            <a:extLst>
              <a:ext uri="{FF2B5EF4-FFF2-40B4-BE49-F238E27FC236}">
                <a16:creationId xmlns:a16="http://schemas.microsoft.com/office/drawing/2014/main" id="{C32D7AFF-AE17-6D5E-E7B5-37AF0D4BC5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>
            <a:extLst>
              <a:ext uri="{FF2B5EF4-FFF2-40B4-BE49-F238E27FC236}">
                <a16:creationId xmlns:a16="http://schemas.microsoft.com/office/drawing/2014/main" id="{53E9B1A6-89C7-B706-B0DA-5AB23312E6F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1902481"/>
            <a:ext cx="11049000" cy="266951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>
            <a:extLst>
              <a:ext uri="{FF2B5EF4-FFF2-40B4-BE49-F238E27FC236}">
                <a16:creationId xmlns:a16="http://schemas.microsoft.com/office/drawing/2014/main" id="{5762D3D2-08FE-2C9C-0EF8-F165A8201B41}"/>
              </a:ext>
            </a:extLst>
          </p:cNvPr>
          <p:cNvSpPr txBox="1"/>
          <p:nvPr/>
        </p:nvSpPr>
        <p:spPr>
          <a:xfrm>
            <a:off x="919163" y="2248247"/>
            <a:ext cx="53006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52B788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2000" b="1" i="0" u="none" strike="noStrike" cap="none" dirty="0">
                <a:solidFill>
                  <a:srgbClr val="52B7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>
                <a:solidFill>
                  <a:srgbClr val="52B788"/>
                </a:solidFill>
                <a:latin typeface="Poppins"/>
                <a:ea typeface="Poppins"/>
                <a:cs typeface="Poppins"/>
                <a:sym typeface="Poppins"/>
              </a:rPr>
              <a:t>Verdict</a:t>
            </a:r>
            <a:endParaRPr sz="2400" dirty="0"/>
          </a:p>
        </p:txBody>
      </p:sp>
      <p:sp>
        <p:nvSpPr>
          <p:cNvPr id="179" name="Google Shape;179;p17">
            <a:extLst>
              <a:ext uri="{FF2B5EF4-FFF2-40B4-BE49-F238E27FC236}">
                <a16:creationId xmlns:a16="http://schemas.microsoft.com/office/drawing/2014/main" id="{28B3A642-F994-F7DA-190F-E8071DAC6FD0}"/>
              </a:ext>
            </a:extLst>
          </p:cNvPr>
          <p:cNvSpPr txBox="1"/>
          <p:nvPr/>
        </p:nvSpPr>
        <p:spPr>
          <a:xfrm>
            <a:off x="599440" y="2838351"/>
            <a:ext cx="50482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D8E2DC"/>
                </a:solidFill>
                <a:latin typeface="Lato"/>
                <a:ea typeface="Lato"/>
                <a:cs typeface="Lato"/>
                <a:sym typeface="Lato"/>
              </a:rPr>
              <a:t>Generative AI is an indispensable tool for bridging agricultural data gaps where real-world labeling is logistically impossible.</a:t>
            </a:r>
            <a:endParaRPr sz="1800" dirty="0"/>
          </a:p>
        </p:txBody>
      </p:sp>
      <p:sp>
        <p:nvSpPr>
          <p:cNvPr id="180" name="Google Shape;180;p17">
            <a:extLst>
              <a:ext uri="{FF2B5EF4-FFF2-40B4-BE49-F238E27FC236}">
                <a16:creationId xmlns:a16="http://schemas.microsoft.com/office/drawing/2014/main" id="{079B0B90-2872-6B61-D8B0-434396DDEDB7}"/>
              </a:ext>
            </a:extLst>
          </p:cNvPr>
          <p:cNvSpPr txBox="1"/>
          <p:nvPr/>
        </p:nvSpPr>
        <p:spPr>
          <a:xfrm>
            <a:off x="6362700" y="2289393"/>
            <a:ext cx="53006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52B788"/>
                </a:solidFill>
                <a:latin typeface="Poppins"/>
                <a:ea typeface="Poppins"/>
                <a:cs typeface="Poppins"/>
                <a:sym typeface="Poppins"/>
              </a:rPr>
              <a:t>Future Work</a:t>
            </a:r>
            <a:endParaRPr sz="2800" dirty="0"/>
          </a:p>
        </p:txBody>
      </p:sp>
      <p:sp>
        <p:nvSpPr>
          <p:cNvPr id="181" name="Google Shape;181;p17">
            <a:extLst>
              <a:ext uri="{FF2B5EF4-FFF2-40B4-BE49-F238E27FC236}">
                <a16:creationId xmlns:a16="http://schemas.microsoft.com/office/drawing/2014/main" id="{7590E1BA-1281-A1FC-0340-B6438E9365BA}"/>
              </a:ext>
            </a:extLst>
          </p:cNvPr>
          <p:cNvSpPr txBox="1"/>
          <p:nvPr/>
        </p:nvSpPr>
        <p:spPr>
          <a:xfrm>
            <a:off x="6096000" y="2851637"/>
            <a:ext cx="50482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D8E2DC"/>
                </a:solidFill>
                <a:latin typeface="Lato"/>
                <a:ea typeface="Lato"/>
                <a:cs typeface="Lato"/>
                <a:sym typeface="Lato"/>
              </a:rPr>
              <a:t>Expansion to Peppers and Cucumbers; improving structural distortion modeling for full herbicide lifecycle detection.</a:t>
            </a:r>
            <a:endParaRPr sz="1800" dirty="0"/>
          </a:p>
        </p:txBody>
      </p:sp>
      <p:pic>
        <p:nvPicPr>
          <p:cNvPr id="182" name="Google Shape;182;p17" descr="image.png">
            <a:extLst>
              <a:ext uri="{FF2B5EF4-FFF2-40B4-BE49-F238E27FC236}">
                <a16:creationId xmlns:a16="http://schemas.microsoft.com/office/drawing/2014/main" id="{07DDD9B4-BF65-5484-FF4C-808F334527D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9440" y="2234961"/>
            <a:ext cx="411480" cy="36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>
            <a:extLst>
              <a:ext uri="{FF2B5EF4-FFF2-40B4-BE49-F238E27FC236}">
                <a16:creationId xmlns:a16="http://schemas.microsoft.com/office/drawing/2014/main" id="{6E08BEF0-3971-D4B9-CF14-2571A5CD70A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28703" y="2350116"/>
            <a:ext cx="325120" cy="26086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AE0E30C2-695E-8B94-DCAB-7FCAF7ADDEB1}"/>
              </a:ext>
            </a:extLst>
          </p:cNvPr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Conclusions &amp; Future Outlook</a:t>
            </a:r>
            <a:endParaRPr dirty="0"/>
          </a:p>
        </p:txBody>
      </p:sp>
      <p:sp>
        <p:nvSpPr>
          <p:cNvPr id="185" name="Google Shape;185;p17">
            <a:extLst>
              <a:ext uri="{FF2B5EF4-FFF2-40B4-BE49-F238E27FC236}">
                <a16:creationId xmlns:a16="http://schemas.microsoft.com/office/drawing/2014/main" id="{9FE0AD0B-4870-3BCE-B6B7-A6B6E3B1EF18}"/>
              </a:ext>
            </a:extLst>
          </p:cNvPr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3501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511</Words>
  <Application>Microsoft Office PowerPoint</Application>
  <PresentationFormat>Widescreen</PresentationFormat>
  <Paragraphs>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Lato</vt:lpstr>
      <vt:lpstr>Poppins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Adir Boccara</cp:lastModifiedBy>
  <cp:revision>6</cp:revision>
  <dcterms:modified xsi:type="dcterms:W3CDTF">2026-01-22T11:26:52Z</dcterms:modified>
</cp:coreProperties>
</file>