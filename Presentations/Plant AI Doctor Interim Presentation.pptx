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y="6858000" cx="12192000"/>
  <p:notesSz cx="6858000" cy="9144000"/>
  <p:embeddedFontLst>
    <p:embeddedFont>
      <p:font typeface="Lato"/>
      <p:regular r:id="rId18"/>
      <p:bold r:id="rId19"/>
      <p:italic r:id="rId20"/>
      <p:boldItalic r:id="rId21"/>
    </p:embeddedFont>
    <p:embeddedFont>
      <p:font typeface="Poppins"/>
      <p:regular r:id="rId22"/>
      <p:bold r:id="rId23"/>
      <p:italic r:id="rId24"/>
      <p:boldItalic r:id="rId25"/>
    </p:embeddedFont>
    <p:embeddedFont>
      <p:font typeface="Lato Black"/>
      <p:bold r:id="rId26"/>
      <p:boldItalic r:id="rId27"/>
    </p:embeddedFont>
    <p:embeddedFont>
      <p:font typeface="Poppins Black"/>
      <p:bold r:id="rId28"/>
      <p:boldItalic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24E4CAA2-E31F-462D-AAEB-C7DA2F898E6C}">
  <a:tblStyle styleId="{24E4CAA2-E31F-462D-AAEB-C7DA2F898E6C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ato-italic.fntdata"/><Relationship Id="rId22" Type="http://schemas.openxmlformats.org/officeDocument/2006/relationships/font" Target="fonts/Poppins-regular.fntdata"/><Relationship Id="rId21" Type="http://schemas.openxmlformats.org/officeDocument/2006/relationships/font" Target="fonts/Lato-boldItalic.fntdata"/><Relationship Id="rId24" Type="http://schemas.openxmlformats.org/officeDocument/2006/relationships/font" Target="fonts/Poppins-italic.fntdata"/><Relationship Id="rId23" Type="http://schemas.openxmlformats.org/officeDocument/2006/relationships/font" Target="fonts/Poppins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LatoBlack-bold.fntdata"/><Relationship Id="rId25" Type="http://schemas.openxmlformats.org/officeDocument/2006/relationships/font" Target="fonts/Poppins-boldItalic.fntdata"/><Relationship Id="rId28" Type="http://schemas.openxmlformats.org/officeDocument/2006/relationships/font" Target="fonts/PoppinsBlack-bold.fntdata"/><Relationship Id="rId27" Type="http://schemas.openxmlformats.org/officeDocument/2006/relationships/font" Target="fonts/LatoBlack-bold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PoppinsBlack-bold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font" Target="fonts/Lato-bold.fntdata"/><Relationship Id="rId18" Type="http://schemas.openxmlformats.org/officeDocument/2006/relationships/font" Target="fonts/Lato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1.png"/><Relationship Id="rId4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13.png"/><Relationship Id="rId5" Type="http://schemas.openxmlformats.org/officeDocument/2006/relationships/image" Target="../media/image12.png"/><Relationship Id="rId6" Type="http://schemas.openxmlformats.org/officeDocument/2006/relationships/image" Target="../media/image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14.png"/><Relationship Id="rId5" Type="http://schemas.openxmlformats.org/officeDocument/2006/relationships/image" Target="../media/image18.png"/><Relationship Id="rId6" Type="http://schemas.openxmlformats.org/officeDocument/2006/relationships/image" Target="../media/image11.png"/><Relationship Id="rId7" Type="http://schemas.openxmlformats.org/officeDocument/2006/relationships/image" Target="../media/image4.png"/><Relationship Id="rId8" Type="http://schemas.openxmlformats.org/officeDocument/2006/relationships/image" Target="../media/image2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2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13.png"/><Relationship Id="rId5" Type="http://schemas.openxmlformats.org/officeDocument/2006/relationships/image" Target="../media/image17.png"/><Relationship Id="rId6" Type="http://schemas.openxmlformats.org/officeDocument/2006/relationships/image" Target="../media/image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Relationship Id="rId4" Type="http://schemas.openxmlformats.org/officeDocument/2006/relationships/image" Target="../media/image23.png"/><Relationship Id="rId5" Type="http://schemas.openxmlformats.org/officeDocument/2006/relationships/image" Target="../media/image16.png"/><Relationship Id="rId6" Type="http://schemas.openxmlformats.org/officeDocument/2006/relationships/image" Target="../media/image1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" name="Google Shape;8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4319587"/>
            <a:ext cx="110490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571500" y="3471862"/>
            <a:ext cx="11049000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10B981"/>
                </a:solidFill>
                <a:latin typeface="Lato"/>
                <a:ea typeface="Lato"/>
                <a:cs typeface="Lato"/>
                <a:sym typeface="Lato"/>
              </a:rPr>
              <a:t>Interim Presentation: Project Review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295275" y="2081212"/>
            <a:ext cx="11601450" cy="129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750" u="none" cap="none" strike="noStrike">
                <a:solidFill>
                  <a:srgbClr val="FFFFFF"/>
                </a:solidFill>
                <a:latin typeface="Poppins Black"/>
                <a:ea typeface="Poppins Black"/>
                <a:cs typeface="Poppins Black"/>
                <a:sym typeface="Poppins Black"/>
              </a:rPr>
              <a:t>Plant AI Doctor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2" name="Google Shape;9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4"/>
          <p:cNvSpPr/>
          <p:nvPr/>
        </p:nvSpPr>
        <p:spPr>
          <a:xfrm>
            <a:off x="5619750" y="1885950"/>
            <a:ext cx="952500" cy="5715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4"/>
          <p:cNvSpPr txBox="1"/>
          <p:nvPr/>
        </p:nvSpPr>
        <p:spPr>
          <a:xfrm>
            <a:off x="295275" y="571500"/>
            <a:ext cx="11601450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064E3B"/>
                </a:solidFill>
                <a:latin typeface="Poppins"/>
                <a:ea typeface="Poppins"/>
                <a:cs typeface="Poppins"/>
                <a:sym typeface="Poppins"/>
              </a:rPr>
              <a:t>The Challenge</a:t>
            </a:r>
            <a:endParaRPr/>
          </a:p>
        </p:txBody>
      </p:sp>
      <p:sp>
        <p:nvSpPr>
          <p:cNvPr id="95" name="Google Shape;95;p14"/>
          <p:cNvSpPr txBox="1"/>
          <p:nvPr/>
        </p:nvSpPr>
        <p:spPr>
          <a:xfrm>
            <a:off x="571500" y="2228850"/>
            <a:ext cx="110490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A critical diagnostic gap in precision agriculture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0" name="Google Shape;100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1" name="Google Shape;101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1962150"/>
            <a:ext cx="5238750" cy="400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2" name="Google Shape;102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400800" y="1981200"/>
            <a:ext cx="5200650" cy="3962400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5"/>
          <p:cNvSpPr txBox="1"/>
          <p:nvPr/>
        </p:nvSpPr>
        <p:spPr>
          <a:xfrm>
            <a:off x="809625" y="571500"/>
            <a:ext cx="11351418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64E3B"/>
                </a:solidFill>
                <a:latin typeface="Poppins"/>
                <a:ea typeface="Poppins"/>
                <a:cs typeface="Poppins"/>
                <a:sym typeface="Poppins"/>
              </a:rPr>
              <a:t>PROBLEM STATEMENT</a:t>
            </a:r>
            <a:endParaRPr/>
          </a:p>
        </p:txBody>
      </p:sp>
      <p:sp>
        <p:nvSpPr>
          <p:cNvPr id="104" name="Google Shape;104;p15"/>
          <p:cNvSpPr/>
          <p:nvPr/>
        </p:nvSpPr>
        <p:spPr>
          <a:xfrm>
            <a:off x="571500" y="571500"/>
            <a:ext cx="95250" cy="6858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5"/>
          <p:cNvSpPr txBox="1"/>
          <p:nvPr/>
        </p:nvSpPr>
        <p:spPr>
          <a:xfrm>
            <a:off x="1000125" y="2733675"/>
            <a:ext cx="4810125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Farmers struggle to visually distinguish chemical damage from biological diseases.</a:t>
            </a:r>
            <a:endParaRPr/>
          </a:p>
        </p:txBody>
      </p:sp>
      <p:sp>
        <p:nvSpPr>
          <p:cNvPr id="106" name="Google Shape;106;p15"/>
          <p:cNvSpPr txBox="1"/>
          <p:nvPr/>
        </p:nvSpPr>
        <p:spPr>
          <a:xfrm>
            <a:off x="1000125" y="3552825"/>
            <a:ext cx="4810125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Visual similarity often leads to wrong treatments, yield loss, and unnecessary costs.</a:t>
            </a:r>
            <a:endParaRPr/>
          </a:p>
        </p:txBody>
      </p:sp>
      <p:sp>
        <p:nvSpPr>
          <p:cNvPr id="107" name="Google Shape;107;p15"/>
          <p:cNvSpPr txBox="1"/>
          <p:nvPr/>
        </p:nvSpPr>
        <p:spPr>
          <a:xfrm>
            <a:off x="1000125" y="4371975"/>
            <a:ext cx="4810125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The Gap:</a:t>
            </a:r>
            <a:r>
              <a:rPr b="0" i="0" lang="en-US" sz="1650" u="none" cap="none" strike="noStrik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 No existing dataset clearly separates these two distinct types of leaf damage.</a:t>
            </a:r>
            <a:endParaRPr/>
          </a:p>
        </p:txBody>
      </p:sp>
      <p:pic>
        <p:nvPicPr>
          <p:cNvPr descr="image.png" id="108" name="Google Shape;108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2714625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9" name="Google Shape;109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533775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0" name="Google Shape;110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4352925"/>
            <a:ext cx="266700" cy="276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5" name="Google Shape;115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6" name="Google Shape;116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357437"/>
            <a:ext cx="3492400" cy="3209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7" name="Google Shape;117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650" y="2357437"/>
            <a:ext cx="3492549" cy="3209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8" name="Google Shape;118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127950" y="2357437"/>
            <a:ext cx="3492400" cy="3209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9" name="Google Shape;119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52500" y="2786062"/>
            <a:ext cx="5715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0" name="Google Shape;120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730650" y="2786062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1" name="Google Shape;121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508950" y="2786062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6"/>
          <p:cNvSpPr txBox="1"/>
          <p:nvPr/>
        </p:nvSpPr>
        <p:spPr>
          <a:xfrm>
            <a:off x="809625" y="571500"/>
            <a:ext cx="11351418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64E3B"/>
                </a:solidFill>
                <a:latin typeface="Poppins"/>
                <a:ea typeface="Poppins"/>
                <a:cs typeface="Poppins"/>
                <a:sym typeface="Poppins"/>
              </a:rPr>
              <a:t>PROJECT EVOLUTION</a:t>
            </a:r>
            <a:endParaRPr/>
          </a:p>
        </p:txBody>
      </p:sp>
      <p:sp>
        <p:nvSpPr>
          <p:cNvPr id="123" name="Google Shape;123;p16"/>
          <p:cNvSpPr/>
          <p:nvPr/>
        </p:nvSpPr>
        <p:spPr>
          <a:xfrm>
            <a:off x="571500" y="571500"/>
            <a:ext cx="95250" cy="6858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16"/>
          <p:cNvSpPr txBox="1"/>
          <p:nvPr/>
        </p:nvSpPr>
        <p:spPr>
          <a:xfrm>
            <a:off x="952500" y="3519487"/>
            <a:ext cx="2866920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064E3B"/>
                </a:solidFill>
                <a:latin typeface="Poppins"/>
                <a:ea typeface="Poppins"/>
                <a:cs typeface="Poppins"/>
                <a:sym typeface="Poppins"/>
              </a:rPr>
              <a:t>Clearer Focus</a:t>
            </a:r>
            <a:endParaRPr/>
          </a:p>
        </p:txBody>
      </p:sp>
      <p:sp>
        <p:nvSpPr>
          <p:cNvPr id="125" name="Google Shape;125;p16"/>
          <p:cNvSpPr txBox="1"/>
          <p:nvPr/>
        </p:nvSpPr>
        <p:spPr>
          <a:xfrm>
            <a:off x="952500" y="4081462"/>
            <a:ext cx="27304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Shifted from multi-class disease detection to a focused binary classification.</a:t>
            </a:r>
            <a:endParaRPr/>
          </a:p>
        </p:txBody>
      </p:sp>
      <p:sp>
        <p:nvSpPr>
          <p:cNvPr id="126" name="Google Shape;126;p16"/>
          <p:cNvSpPr txBox="1"/>
          <p:nvPr/>
        </p:nvSpPr>
        <p:spPr>
          <a:xfrm>
            <a:off x="4730650" y="3519487"/>
            <a:ext cx="2867077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064E3B"/>
                </a:solidFill>
                <a:latin typeface="Poppins"/>
                <a:ea typeface="Poppins"/>
                <a:cs typeface="Poppins"/>
                <a:sym typeface="Poppins"/>
              </a:rPr>
              <a:t>Feasibility</a:t>
            </a:r>
            <a:endParaRPr/>
          </a:p>
        </p:txBody>
      </p:sp>
      <p:sp>
        <p:nvSpPr>
          <p:cNvPr id="127" name="Google Shape;127;p16"/>
          <p:cNvSpPr txBox="1"/>
          <p:nvPr/>
        </p:nvSpPr>
        <p:spPr>
          <a:xfrm>
            <a:off x="4730650" y="4081462"/>
            <a:ext cx="2730549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The binary approach (Chemical vs. Biological) is more aligned with real-world data limitations.</a:t>
            </a:r>
            <a:endParaRPr/>
          </a:p>
        </p:txBody>
      </p:sp>
      <p:sp>
        <p:nvSpPr>
          <p:cNvPr id="128" name="Google Shape;128;p16"/>
          <p:cNvSpPr txBox="1"/>
          <p:nvPr/>
        </p:nvSpPr>
        <p:spPr>
          <a:xfrm>
            <a:off x="8508950" y="3519487"/>
            <a:ext cx="2866920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064E3B"/>
                </a:solidFill>
                <a:latin typeface="Poppins"/>
                <a:ea typeface="Poppins"/>
                <a:cs typeface="Poppins"/>
                <a:sym typeface="Poppins"/>
              </a:rPr>
              <a:t>Specific Value</a:t>
            </a:r>
            <a:endParaRPr/>
          </a:p>
        </p:txBody>
      </p:sp>
      <p:sp>
        <p:nvSpPr>
          <p:cNvPr id="129" name="Google Shape;129;p16"/>
          <p:cNvSpPr txBox="1"/>
          <p:nvPr/>
        </p:nvSpPr>
        <p:spPr>
          <a:xfrm>
            <a:off x="8508950" y="4081462"/>
            <a:ext cx="27304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Solves a niche but highly impactful problem for tomato cultivation diagnostics.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4" name="Google Shape;134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5" name="Google Shape;135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500312"/>
            <a:ext cx="5238750" cy="2924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6" name="Google Shape;136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2500312"/>
            <a:ext cx="5238750" cy="2924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7" name="Google Shape;137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52500" y="2928937"/>
            <a:ext cx="4000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8" name="Google Shape;138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762750" y="2928937"/>
            <a:ext cx="51435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17"/>
          <p:cNvSpPr txBox="1"/>
          <p:nvPr/>
        </p:nvSpPr>
        <p:spPr>
          <a:xfrm>
            <a:off x="809625" y="571500"/>
            <a:ext cx="11351418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64E3B"/>
                </a:solidFill>
                <a:latin typeface="Poppins"/>
                <a:ea typeface="Poppins"/>
                <a:cs typeface="Poppins"/>
                <a:sym typeface="Poppins"/>
              </a:rPr>
              <a:t>PROJECT NOVELTY</a:t>
            </a:r>
            <a:endParaRPr/>
          </a:p>
        </p:txBody>
      </p:sp>
      <p:sp>
        <p:nvSpPr>
          <p:cNvPr id="140" name="Google Shape;140;p17"/>
          <p:cNvSpPr/>
          <p:nvPr/>
        </p:nvSpPr>
        <p:spPr>
          <a:xfrm>
            <a:off x="571500" y="571500"/>
            <a:ext cx="95250" cy="6858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7"/>
          <p:cNvSpPr txBox="1"/>
          <p:nvPr/>
        </p:nvSpPr>
        <p:spPr>
          <a:xfrm>
            <a:off x="952500" y="3662362"/>
            <a:ext cx="4700587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064E3B"/>
                </a:solidFill>
                <a:latin typeface="Poppins"/>
                <a:ea typeface="Poppins"/>
                <a:cs typeface="Poppins"/>
                <a:sym typeface="Poppins"/>
              </a:rPr>
              <a:t>Unique Dataset</a:t>
            </a:r>
            <a:endParaRPr/>
          </a:p>
        </p:txBody>
      </p:sp>
      <p:sp>
        <p:nvSpPr>
          <p:cNvPr id="142" name="Google Shape;142;p17"/>
          <p:cNvSpPr txBox="1"/>
          <p:nvPr/>
        </p:nvSpPr>
        <p:spPr>
          <a:xfrm>
            <a:off x="952500" y="4224337"/>
            <a:ext cx="44767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One of the first datasets specifically aimed at chemical vs. biological damage distinction in plants.</a:t>
            </a:r>
            <a:endParaRPr/>
          </a:p>
        </p:txBody>
      </p:sp>
      <p:sp>
        <p:nvSpPr>
          <p:cNvPr id="143" name="Google Shape;143;p17"/>
          <p:cNvSpPr txBox="1"/>
          <p:nvPr/>
        </p:nvSpPr>
        <p:spPr>
          <a:xfrm>
            <a:off x="6762750" y="3662362"/>
            <a:ext cx="4700587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064E3B"/>
                </a:solidFill>
                <a:latin typeface="Poppins"/>
                <a:ea typeface="Poppins"/>
                <a:cs typeface="Poppins"/>
                <a:sym typeface="Poppins"/>
              </a:rPr>
              <a:t>Generative AI</a:t>
            </a:r>
            <a:endParaRPr/>
          </a:p>
        </p:txBody>
      </p:sp>
      <p:sp>
        <p:nvSpPr>
          <p:cNvPr id="144" name="Google Shape;144;p17"/>
          <p:cNvSpPr txBox="1"/>
          <p:nvPr/>
        </p:nvSpPr>
        <p:spPr>
          <a:xfrm>
            <a:off x="6762750" y="4224337"/>
            <a:ext cx="44767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Utilizing Generative AI to create synthetic damage patterns, addressing data scarcity in chemical burns.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9" name="Google Shape;149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18"/>
          <p:cNvSpPr/>
          <p:nvPr/>
        </p:nvSpPr>
        <p:spPr>
          <a:xfrm>
            <a:off x="571500" y="2690812"/>
            <a:ext cx="11049000" cy="2543175"/>
          </a:xfrm>
          <a:prstGeom prst="roundRect">
            <a:avLst>
              <a:gd fmla="val 0" name="adj"/>
            </a:avLst>
          </a:prstGeom>
          <a:solidFill>
            <a:srgbClr val="FFFFFF"/>
          </a:soli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51" name="Google Shape;151;p18"/>
          <p:cNvGraphicFramePr/>
          <p:nvPr/>
        </p:nvGraphicFramePr>
        <p:xfrm>
          <a:off x="571500" y="269081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{24E4CAA2-E31F-462D-AAEB-C7DA2F898E6C}</a:tableStyleId>
              </a:tblPr>
              <a:tblGrid>
                <a:gridCol w="2646900"/>
                <a:gridCol w="2316075"/>
                <a:gridCol w="2967775"/>
                <a:gridCol w="3118250"/>
              </a:tblGrid>
              <a:tr h="635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650" u="none" cap="none" strike="noStrik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Paper (Year)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64E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650" u="none" cap="none" strike="noStrik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Task / Method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64E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650" u="none" cap="none" strike="noStrik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Key Results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64E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650" u="none" cap="none" strike="noStrik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Relation to Project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64E3B"/>
                    </a:solidFill>
                  </a:tcPr>
                </a:tc>
              </a:tr>
              <a:tr h="635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1E293B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Tomato Leaf Disease (2022)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1E293B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U-Net + CNN Classifier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1E293B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High accuracy via segmentation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1E293B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Only diseases, not chemical burns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635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1E293B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E-TomatoDet (2025)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1E293B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Efficient Detection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1E293B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mAP ≈ 97.2%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1E293B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SOTA disease detection only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635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1E293B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Review DL Methods (2025)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1E293B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Survey of CNN/Seg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1E293B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Identified dataset limitations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1E293B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Highlights gap we are filling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52" name="Google Shape;152;p18"/>
          <p:cNvSpPr/>
          <p:nvPr/>
        </p:nvSpPr>
        <p:spPr>
          <a:xfrm>
            <a:off x="571500" y="4010025"/>
            <a:ext cx="264690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8"/>
          <p:cNvSpPr/>
          <p:nvPr/>
        </p:nvSpPr>
        <p:spPr>
          <a:xfrm>
            <a:off x="3218408" y="4010025"/>
            <a:ext cx="231606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8"/>
          <p:cNvSpPr/>
          <p:nvPr/>
        </p:nvSpPr>
        <p:spPr>
          <a:xfrm>
            <a:off x="5534471" y="4010025"/>
            <a:ext cx="296778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8"/>
          <p:cNvSpPr/>
          <p:nvPr/>
        </p:nvSpPr>
        <p:spPr>
          <a:xfrm>
            <a:off x="8502253" y="4010025"/>
            <a:ext cx="311824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8"/>
          <p:cNvSpPr/>
          <p:nvPr/>
        </p:nvSpPr>
        <p:spPr>
          <a:xfrm>
            <a:off x="571500" y="4619625"/>
            <a:ext cx="264690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8"/>
          <p:cNvSpPr/>
          <p:nvPr/>
        </p:nvSpPr>
        <p:spPr>
          <a:xfrm>
            <a:off x="3218408" y="4619625"/>
            <a:ext cx="231606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8"/>
          <p:cNvSpPr/>
          <p:nvPr/>
        </p:nvSpPr>
        <p:spPr>
          <a:xfrm>
            <a:off x="5534471" y="4619625"/>
            <a:ext cx="296778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8"/>
          <p:cNvSpPr/>
          <p:nvPr/>
        </p:nvSpPr>
        <p:spPr>
          <a:xfrm>
            <a:off x="8502253" y="4619625"/>
            <a:ext cx="311824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8"/>
          <p:cNvSpPr/>
          <p:nvPr/>
        </p:nvSpPr>
        <p:spPr>
          <a:xfrm>
            <a:off x="571500" y="5219700"/>
            <a:ext cx="264690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8"/>
          <p:cNvSpPr/>
          <p:nvPr/>
        </p:nvSpPr>
        <p:spPr>
          <a:xfrm>
            <a:off x="3218408" y="5219700"/>
            <a:ext cx="231606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8"/>
          <p:cNvSpPr/>
          <p:nvPr/>
        </p:nvSpPr>
        <p:spPr>
          <a:xfrm>
            <a:off x="5534471" y="5219700"/>
            <a:ext cx="296778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8"/>
          <p:cNvSpPr/>
          <p:nvPr/>
        </p:nvSpPr>
        <p:spPr>
          <a:xfrm>
            <a:off x="8502253" y="5219700"/>
            <a:ext cx="311824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8"/>
          <p:cNvSpPr txBox="1"/>
          <p:nvPr/>
        </p:nvSpPr>
        <p:spPr>
          <a:xfrm>
            <a:off x="809625" y="571500"/>
            <a:ext cx="11351418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64E3B"/>
                </a:solidFill>
                <a:latin typeface="Poppins"/>
                <a:ea typeface="Poppins"/>
                <a:cs typeface="Poppins"/>
                <a:sym typeface="Poppins"/>
              </a:rPr>
              <a:t>LITERATURE REVIEW ANALYSIS</a:t>
            </a:r>
            <a:endParaRPr/>
          </a:p>
        </p:txBody>
      </p:sp>
      <p:sp>
        <p:nvSpPr>
          <p:cNvPr id="165" name="Google Shape;165;p18"/>
          <p:cNvSpPr/>
          <p:nvPr/>
        </p:nvSpPr>
        <p:spPr>
          <a:xfrm>
            <a:off x="571500" y="571500"/>
            <a:ext cx="95250" cy="6858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0" name="Google Shape;170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19"/>
          <p:cNvSpPr/>
          <p:nvPr/>
        </p:nvSpPr>
        <p:spPr>
          <a:xfrm>
            <a:off x="5619750" y="1885950"/>
            <a:ext cx="952500" cy="5715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9"/>
          <p:cNvSpPr txBox="1"/>
          <p:nvPr/>
        </p:nvSpPr>
        <p:spPr>
          <a:xfrm>
            <a:off x="295275" y="571500"/>
            <a:ext cx="11601450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064E3B"/>
                </a:solidFill>
                <a:latin typeface="Poppins"/>
                <a:ea typeface="Poppins"/>
                <a:cs typeface="Poppins"/>
                <a:sym typeface="Poppins"/>
              </a:rPr>
              <a:t>Data &amp; Methodology</a:t>
            </a:r>
            <a:endParaRPr/>
          </a:p>
        </p:txBody>
      </p:sp>
      <p:sp>
        <p:nvSpPr>
          <p:cNvPr id="173" name="Google Shape;173;p19"/>
          <p:cNvSpPr txBox="1"/>
          <p:nvPr/>
        </p:nvSpPr>
        <p:spPr>
          <a:xfrm>
            <a:off x="571500" y="2228850"/>
            <a:ext cx="110490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Current progress and baseline performance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8" name="Google Shape;178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20"/>
          <p:cNvSpPr txBox="1"/>
          <p:nvPr/>
        </p:nvSpPr>
        <p:spPr>
          <a:xfrm>
            <a:off x="285513" y="3108300"/>
            <a:ext cx="2962200" cy="16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0" u="none" cap="none" strike="noStrike">
                <a:solidFill>
                  <a:srgbClr val="064E3B"/>
                </a:solidFill>
                <a:latin typeface="Lato Black"/>
                <a:ea typeface="Lato Black"/>
                <a:cs typeface="Lato Black"/>
                <a:sym typeface="Lato Black"/>
              </a:rPr>
              <a:t>157</a:t>
            </a:r>
            <a:endParaRPr/>
          </a:p>
        </p:txBody>
      </p:sp>
      <p:sp>
        <p:nvSpPr>
          <p:cNvPr id="180" name="Google Shape;180;p20"/>
          <p:cNvSpPr txBox="1"/>
          <p:nvPr/>
        </p:nvSpPr>
        <p:spPr>
          <a:xfrm>
            <a:off x="571500" y="4491037"/>
            <a:ext cx="220027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TOTAL REAL IMAGES</a:t>
            </a:r>
            <a:endParaRPr/>
          </a:p>
        </p:txBody>
      </p:sp>
      <p:sp>
        <p:nvSpPr>
          <p:cNvPr id="181" name="Google Shape;181;p20"/>
          <p:cNvSpPr txBox="1"/>
          <p:nvPr/>
        </p:nvSpPr>
        <p:spPr>
          <a:xfrm>
            <a:off x="809625" y="571500"/>
            <a:ext cx="11351418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64E3B"/>
                </a:solidFill>
                <a:latin typeface="Poppins"/>
                <a:ea typeface="Poppins"/>
                <a:cs typeface="Poppins"/>
                <a:sym typeface="Poppins"/>
              </a:rPr>
              <a:t>DATASET COMPOSITION</a:t>
            </a:r>
            <a:endParaRPr/>
          </a:p>
        </p:txBody>
      </p:sp>
      <p:sp>
        <p:nvSpPr>
          <p:cNvPr id="182" name="Google Shape;182;p20"/>
          <p:cNvSpPr/>
          <p:nvPr/>
        </p:nvSpPr>
        <p:spPr>
          <a:xfrm>
            <a:off x="571500" y="571500"/>
            <a:ext cx="95250" cy="6858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20"/>
          <p:cNvSpPr txBox="1"/>
          <p:nvPr/>
        </p:nvSpPr>
        <p:spPr>
          <a:xfrm>
            <a:off x="3962400" y="2952750"/>
            <a:ext cx="76581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Chemical Damage:</a:t>
            </a:r>
            <a:r>
              <a:rPr b="0" i="0" lang="en-US" sz="1650" u="none" cap="none" strike="noStrik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 67 images (High rarity).</a:t>
            </a:r>
            <a:endParaRPr/>
          </a:p>
        </p:txBody>
      </p:sp>
      <p:sp>
        <p:nvSpPr>
          <p:cNvPr id="184" name="Google Shape;184;p20"/>
          <p:cNvSpPr txBox="1"/>
          <p:nvPr/>
        </p:nvSpPr>
        <p:spPr>
          <a:xfrm>
            <a:off x="3962400" y="3457575"/>
            <a:ext cx="76581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Biological Disease:</a:t>
            </a:r>
            <a:r>
              <a:rPr b="0" i="0" lang="en-US" sz="1650" u="none" cap="none" strike="noStrik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 90 images.</a:t>
            </a:r>
            <a:endParaRPr/>
          </a:p>
        </p:txBody>
      </p:sp>
      <p:sp>
        <p:nvSpPr>
          <p:cNvPr id="185" name="Google Shape;185;p20"/>
          <p:cNvSpPr txBox="1"/>
          <p:nvPr/>
        </p:nvSpPr>
        <p:spPr>
          <a:xfrm>
            <a:off x="3962400" y="3962400"/>
            <a:ext cx="76581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Image Quality:</a:t>
            </a:r>
            <a:r>
              <a:rPr b="0" i="0" lang="en-US" sz="1650" u="none" cap="none" strike="noStrik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 RGB images with varying backgrounds.</a:t>
            </a:r>
            <a:endParaRPr/>
          </a:p>
        </p:txBody>
      </p:sp>
      <p:sp>
        <p:nvSpPr>
          <p:cNvPr id="186" name="Google Shape;186;p20"/>
          <p:cNvSpPr txBox="1"/>
          <p:nvPr/>
        </p:nvSpPr>
        <p:spPr>
          <a:xfrm>
            <a:off x="3962400" y="4467225"/>
            <a:ext cx="76581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Data Split:</a:t>
            </a:r>
            <a:r>
              <a:rPr b="0" i="0" lang="en-US" sz="1650" u="none" cap="none" strike="noStrik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 Train/Val/Test with zero overlap.</a:t>
            </a:r>
            <a:endParaRPr/>
          </a:p>
        </p:txBody>
      </p:sp>
      <p:pic>
        <p:nvPicPr>
          <p:cNvPr descr="image.png" id="187" name="Google Shape;187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33775" y="2933700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8" name="Google Shape;188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33775" y="3438525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9" name="Google Shape;189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33775" y="3943350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0" name="Google Shape;190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33775" y="4448175"/>
            <a:ext cx="266700" cy="276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5" name="Google Shape;195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6" name="Google Shape;196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1962150"/>
            <a:ext cx="5238750" cy="400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7" name="Google Shape;197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400800" y="1981200"/>
            <a:ext cx="5200650" cy="3962400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21"/>
          <p:cNvSpPr txBox="1"/>
          <p:nvPr/>
        </p:nvSpPr>
        <p:spPr>
          <a:xfrm>
            <a:off x="809625" y="571500"/>
            <a:ext cx="11351418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64E3B"/>
                </a:solidFill>
                <a:latin typeface="Poppins"/>
                <a:ea typeface="Poppins"/>
                <a:cs typeface="Poppins"/>
                <a:sym typeface="Poppins"/>
              </a:rPr>
              <a:t>PROPOSED AI SOLUTION</a:t>
            </a:r>
            <a:endParaRPr/>
          </a:p>
        </p:txBody>
      </p:sp>
      <p:sp>
        <p:nvSpPr>
          <p:cNvPr id="199" name="Google Shape;199;p21"/>
          <p:cNvSpPr/>
          <p:nvPr/>
        </p:nvSpPr>
        <p:spPr>
          <a:xfrm>
            <a:off x="571500" y="571500"/>
            <a:ext cx="95250" cy="6858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21"/>
          <p:cNvSpPr txBox="1"/>
          <p:nvPr/>
        </p:nvSpPr>
        <p:spPr>
          <a:xfrm>
            <a:off x="571500" y="2824162"/>
            <a:ext cx="52387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Addressing limited data:</a:t>
            </a:r>
            <a:endParaRPr/>
          </a:p>
        </p:txBody>
      </p:sp>
      <p:sp>
        <p:nvSpPr>
          <p:cNvPr id="201" name="Google Shape;201;p21"/>
          <p:cNvSpPr txBox="1"/>
          <p:nvPr/>
        </p:nvSpPr>
        <p:spPr>
          <a:xfrm>
            <a:off x="571500" y="3300412"/>
            <a:ext cx="52387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Synthetic data generation is planned using:</a:t>
            </a:r>
            <a:endParaRPr/>
          </a:p>
        </p:txBody>
      </p:sp>
      <p:sp>
        <p:nvSpPr>
          <p:cNvPr id="202" name="Google Shape;202;p21"/>
          <p:cNvSpPr txBox="1"/>
          <p:nvPr/>
        </p:nvSpPr>
        <p:spPr>
          <a:xfrm>
            <a:off x="1000125" y="3776662"/>
            <a:ext cx="481012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Stable Diffusion:</a:t>
            </a:r>
            <a:r>
              <a:rPr b="0" i="0" lang="en-US" sz="1650" u="none" cap="none" strike="noStrik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 Base image generation.</a:t>
            </a:r>
            <a:endParaRPr/>
          </a:p>
        </p:txBody>
      </p:sp>
      <p:sp>
        <p:nvSpPr>
          <p:cNvPr id="203" name="Google Shape;203;p21"/>
          <p:cNvSpPr txBox="1"/>
          <p:nvPr/>
        </p:nvSpPr>
        <p:spPr>
          <a:xfrm>
            <a:off x="1000125" y="4281487"/>
            <a:ext cx="481012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Inpainting:</a:t>
            </a:r>
            <a:r>
              <a:rPr b="0" i="0" lang="en-US" sz="1650" u="none" cap="none" strike="noStrik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 Specific damage placement.</a:t>
            </a:r>
            <a:endParaRPr/>
          </a:p>
        </p:txBody>
      </p:sp>
      <p:sp>
        <p:nvSpPr>
          <p:cNvPr id="204" name="Google Shape;204;p21"/>
          <p:cNvSpPr txBox="1"/>
          <p:nvPr/>
        </p:nvSpPr>
        <p:spPr>
          <a:xfrm>
            <a:off x="1000125" y="4786312"/>
            <a:ext cx="481012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ControlNet:</a:t>
            </a:r>
            <a:r>
              <a:rPr b="0" i="0" lang="en-US" sz="1650" u="none" cap="none" strike="noStrik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 Precise structural control.</a:t>
            </a:r>
            <a:endParaRPr/>
          </a:p>
        </p:txBody>
      </p:sp>
      <p:pic>
        <p:nvPicPr>
          <p:cNvPr descr="image.png" id="205" name="Google Shape;205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757612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6" name="Google Shape;206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4262437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7" name="Google Shape;207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4767262"/>
            <a:ext cx="266700" cy="276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2" name="Google Shape;212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3" name="Google Shape;213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638300"/>
            <a:ext cx="11049000" cy="5429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4" name="Google Shape;214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5734050"/>
            <a:ext cx="11049000" cy="133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5" name="Google Shape;215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28700" y="6172200"/>
            <a:ext cx="19050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22"/>
          <p:cNvSpPr txBox="1"/>
          <p:nvPr/>
        </p:nvSpPr>
        <p:spPr>
          <a:xfrm>
            <a:off x="809625" y="571500"/>
            <a:ext cx="11351418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64E3B"/>
                </a:solidFill>
                <a:latin typeface="Poppins"/>
                <a:ea typeface="Poppins"/>
                <a:cs typeface="Poppins"/>
                <a:sym typeface="Poppins"/>
              </a:rPr>
              <a:t>BASELINE RESULTS</a:t>
            </a:r>
            <a:endParaRPr/>
          </a:p>
        </p:txBody>
      </p:sp>
      <p:sp>
        <p:nvSpPr>
          <p:cNvPr id="217" name="Google Shape;217;p22"/>
          <p:cNvSpPr/>
          <p:nvPr/>
        </p:nvSpPr>
        <p:spPr>
          <a:xfrm>
            <a:off x="571500" y="571500"/>
            <a:ext cx="95250" cy="6858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22"/>
          <p:cNvSpPr txBox="1"/>
          <p:nvPr/>
        </p:nvSpPr>
        <p:spPr>
          <a:xfrm>
            <a:off x="1028700" y="6115050"/>
            <a:ext cx="10210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905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500" u="none" cap="none" strike="noStrike">
                <a:solidFill>
                  <a:srgbClr val="064E3B"/>
                </a:solidFill>
                <a:latin typeface="Lato"/>
                <a:ea typeface="Lato"/>
                <a:cs typeface="Lato"/>
                <a:sym typeface="Lato"/>
              </a:rPr>
              <a:t> Analysis: 100% accuracy is likely due to the small dataset and strong visual cues. Overfitting is a risk; robustness testing is essential.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3" name="Google Shape;223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23"/>
          <p:cNvSpPr/>
          <p:nvPr/>
        </p:nvSpPr>
        <p:spPr>
          <a:xfrm>
            <a:off x="571500" y="3878609"/>
            <a:ext cx="11049000" cy="381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23"/>
          <p:cNvSpPr/>
          <p:nvPr/>
        </p:nvSpPr>
        <p:spPr>
          <a:xfrm>
            <a:off x="1257300" y="3211859"/>
            <a:ext cx="285750" cy="285750"/>
          </a:xfrm>
          <a:prstGeom prst="roundRect">
            <a:avLst>
              <a:gd fmla="val 50000" name="adj"/>
            </a:avLst>
          </a:prstGeom>
          <a:solidFill>
            <a:srgbClr val="064E3B"/>
          </a:solidFill>
          <a:ln cap="flat" cmpd="sng" w="571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23"/>
          <p:cNvSpPr txBox="1"/>
          <p:nvPr/>
        </p:nvSpPr>
        <p:spPr>
          <a:xfrm>
            <a:off x="530066" y="3783359"/>
            <a:ext cx="1740217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64E3B"/>
                </a:solidFill>
                <a:latin typeface="Lato"/>
                <a:ea typeface="Lato"/>
                <a:cs typeface="Lato"/>
                <a:sym typeface="Lato"/>
              </a:rPr>
              <a:t>Step 1</a:t>
            </a:r>
            <a:endParaRPr/>
          </a:p>
        </p:txBody>
      </p:sp>
      <p:sp>
        <p:nvSpPr>
          <p:cNvPr id="227" name="Google Shape;227;p23"/>
          <p:cNvSpPr/>
          <p:nvPr/>
        </p:nvSpPr>
        <p:spPr>
          <a:xfrm>
            <a:off x="3135510" y="3211859"/>
            <a:ext cx="285750" cy="285750"/>
          </a:xfrm>
          <a:prstGeom prst="roundRect">
            <a:avLst>
              <a:gd fmla="val 50000" name="adj"/>
            </a:avLst>
          </a:prstGeom>
          <a:solidFill>
            <a:srgbClr val="064E3B"/>
          </a:solidFill>
          <a:ln cap="flat" cmpd="sng" w="571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23"/>
          <p:cNvSpPr txBox="1"/>
          <p:nvPr/>
        </p:nvSpPr>
        <p:spPr>
          <a:xfrm>
            <a:off x="2408277" y="3783359"/>
            <a:ext cx="1740217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64E3B"/>
                </a:solidFill>
                <a:latin typeface="Lato"/>
                <a:ea typeface="Lato"/>
                <a:cs typeface="Lato"/>
                <a:sym typeface="Lato"/>
              </a:rPr>
              <a:t>Step 2</a:t>
            </a:r>
            <a:endParaRPr/>
          </a:p>
        </p:txBody>
      </p:sp>
      <p:sp>
        <p:nvSpPr>
          <p:cNvPr id="229" name="Google Shape;229;p23"/>
          <p:cNvSpPr/>
          <p:nvPr/>
        </p:nvSpPr>
        <p:spPr>
          <a:xfrm>
            <a:off x="5013721" y="3211859"/>
            <a:ext cx="285750" cy="285750"/>
          </a:xfrm>
          <a:prstGeom prst="roundRect">
            <a:avLst>
              <a:gd fmla="val 50000" name="adj"/>
            </a:avLst>
          </a:prstGeom>
          <a:solidFill>
            <a:srgbClr val="064E3B"/>
          </a:solidFill>
          <a:ln cap="flat" cmpd="sng" w="571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23"/>
          <p:cNvSpPr txBox="1"/>
          <p:nvPr/>
        </p:nvSpPr>
        <p:spPr>
          <a:xfrm>
            <a:off x="4286488" y="3783359"/>
            <a:ext cx="1740217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64E3B"/>
                </a:solidFill>
                <a:latin typeface="Lato"/>
                <a:ea typeface="Lato"/>
                <a:cs typeface="Lato"/>
                <a:sym typeface="Lato"/>
              </a:rPr>
              <a:t>Step 3</a:t>
            </a:r>
            <a:endParaRPr/>
          </a:p>
        </p:txBody>
      </p:sp>
      <p:sp>
        <p:nvSpPr>
          <p:cNvPr id="231" name="Google Shape;231;p23"/>
          <p:cNvSpPr/>
          <p:nvPr/>
        </p:nvSpPr>
        <p:spPr>
          <a:xfrm>
            <a:off x="6891932" y="3211859"/>
            <a:ext cx="285750" cy="285750"/>
          </a:xfrm>
          <a:prstGeom prst="roundRect">
            <a:avLst>
              <a:gd fmla="val 50000" name="adj"/>
            </a:avLst>
          </a:prstGeom>
          <a:solidFill>
            <a:srgbClr val="064E3B"/>
          </a:solidFill>
          <a:ln cap="flat" cmpd="sng" w="571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23"/>
          <p:cNvSpPr txBox="1"/>
          <p:nvPr/>
        </p:nvSpPr>
        <p:spPr>
          <a:xfrm>
            <a:off x="6164699" y="3783359"/>
            <a:ext cx="1740217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64E3B"/>
                </a:solidFill>
                <a:latin typeface="Lato"/>
                <a:ea typeface="Lato"/>
                <a:cs typeface="Lato"/>
                <a:sym typeface="Lato"/>
              </a:rPr>
              <a:t>Step 4</a:t>
            </a:r>
            <a:endParaRPr/>
          </a:p>
        </p:txBody>
      </p:sp>
      <p:sp>
        <p:nvSpPr>
          <p:cNvPr id="233" name="Google Shape;233;p23"/>
          <p:cNvSpPr/>
          <p:nvPr/>
        </p:nvSpPr>
        <p:spPr>
          <a:xfrm>
            <a:off x="8770143" y="3211859"/>
            <a:ext cx="285750" cy="285750"/>
          </a:xfrm>
          <a:prstGeom prst="roundRect">
            <a:avLst>
              <a:gd fmla="val 50000" name="adj"/>
            </a:avLst>
          </a:prstGeom>
          <a:solidFill>
            <a:srgbClr val="064E3B"/>
          </a:solidFill>
          <a:ln cap="flat" cmpd="sng" w="571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23"/>
          <p:cNvSpPr txBox="1"/>
          <p:nvPr/>
        </p:nvSpPr>
        <p:spPr>
          <a:xfrm>
            <a:off x="8042910" y="3783359"/>
            <a:ext cx="1740217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64E3B"/>
                </a:solidFill>
                <a:latin typeface="Lato"/>
                <a:ea typeface="Lato"/>
                <a:cs typeface="Lato"/>
                <a:sym typeface="Lato"/>
              </a:rPr>
              <a:t>Step 5</a:t>
            </a:r>
            <a:endParaRPr/>
          </a:p>
        </p:txBody>
      </p:sp>
      <p:sp>
        <p:nvSpPr>
          <p:cNvPr id="235" name="Google Shape;235;p23"/>
          <p:cNvSpPr/>
          <p:nvPr/>
        </p:nvSpPr>
        <p:spPr>
          <a:xfrm>
            <a:off x="10648354" y="3211859"/>
            <a:ext cx="285750" cy="285750"/>
          </a:xfrm>
          <a:prstGeom prst="roundRect">
            <a:avLst>
              <a:gd fmla="val 50000" name="adj"/>
            </a:avLst>
          </a:prstGeom>
          <a:solidFill>
            <a:srgbClr val="064E3B"/>
          </a:solidFill>
          <a:ln cap="flat" cmpd="sng" w="571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23"/>
          <p:cNvSpPr txBox="1"/>
          <p:nvPr/>
        </p:nvSpPr>
        <p:spPr>
          <a:xfrm>
            <a:off x="9921120" y="3783359"/>
            <a:ext cx="1740217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64E3B"/>
                </a:solidFill>
                <a:latin typeface="Lato"/>
                <a:ea typeface="Lato"/>
                <a:cs typeface="Lato"/>
                <a:sym typeface="Lato"/>
              </a:rPr>
              <a:t>Step 6</a:t>
            </a:r>
            <a:endParaRPr/>
          </a:p>
        </p:txBody>
      </p:sp>
      <p:sp>
        <p:nvSpPr>
          <p:cNvPr id="237" name="Google Shape;237;p23"/>
          <p:cNvSpPr txBox="1"/>
          <p:nvPr/>
        </p:nvSpPr>
        <p:spPr>
          <a:xfrm>
            <a:off x="809625" y="571500"/>
            <a:ext cx="11351418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64E3B"/>
                </a:solidFill>
                <a:latin typeface="Poppins"/>
                <a:ea typeface="Poppins"/>
                <a:cs typeface="Poppins"/>
                <a:sym typeface="Poppins"/>
              </a:rPr>
              <a:t>FUTURE ROADMAP</a:t>
            </a:r>
            <a:endParaRPr/>
          </a:p>
        </p:txBody>
      </p:sp>
      <p:sp>
        <p:nvSpPr>
          <p:cNvPr id="238" name="Google Shape;238;p23"/>
          <p:cNvSpPr/>
          <p:nvPr/>
        </p:nvSpPr>
        <p:spPr>
          <a:xfrm>
            <a:off x="571500" y="571500"/>
            <a:ext cx="95250" cy="6858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23"/>
          <p:cNvSpPr txBox="1"/>
          <p:nvPr/>
        </p:nvSpPr>
        <p:spPr>
          <a:xfrm>
            <a:off x="571500" y="4164359"/>
            <a:ext cx="1657350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Synthetic Data Generation</a:t>
            </a:r>
            <a:endParaRPr/>
          </a:p>
        </p:txBody>
      </p:sp>
      <p:sp>
        <p:nvSpPr>
          <p:cNvPr id="240" name="Google Shape;240;p23"/>
          <p:cNvSpPr txBox="1"/>
          <p:nvPr/>
        </p:nvSpPr>
        <p:spPr>
          <a:xfrm>
            <a:off x="2449710" y="4164359"/>
            <a:ext cx="1657350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Damage Refinement (ControlNet)</a:t>
            </a:r>
            <a:endParaRPr/>
          </a:p>
        </p:txBody>
      </p:sp>
      <p:sp>
        <p:nvSpPr>
          <p:cNvPr id="241" name="Google Shape;241;p23"/>
          <p:cNvSpPr txBox="1"/>
          <p:nvPr/>
        </p:nvSpPr>
        <p:spPr>
          <a:xfrm>
            <a:off x="4327921" y="4164359"/>
            <a:ext cx="1657350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Dataset Merging (Real + Synth)</a:t>
            </a:r>
            <a:endParaRPr/>
          </a:p>
        </p:txBody>
      </p:sp>
      <p:sp>
        <p:nvSpPr>
          <p:cNvPr id="242" name="Google Shape;242;p23"/>
          <p:cNvSpPr txBox="1"/>
          <p:nvPr/>
        </p:nvSpPr>
        <p:spPr>
          <a:xfrm>
            <a:off x="6206132" y="4164359"/>
            <a:ext cx="1657350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Baseline Retraining</a:t>
            </a:r>
            <a:endParaRPr/>
          </a:p>
        </p:txBody>
      </p:sp>
      <p:sp>
        <p:nvSpPr>
          <p:cNvPr id="243" name="Google Shape;243;p23"/>
          <p:cNvSpPr txBox="1"/>
          <p:nvPr/>
        </p:nvSpPr>
        <p:spPr>
          <a:xfrm>
            <a:off x="8084343" y="4164359"/>
            <a:ext cx="1657350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Robustness Testing</a:t>
            </a:r>
            <a:endParaRPr/>
          </a:p>
        </p:txBody>
      </p:sp>
      <p:sp>
        <p:nvSpPr>
          <p:cNvPr id="244" name="Google Shape;244;p23"/>
          <p:cNvSpPr txBox="1"/>
          <p:nvPr/>
        </p:nvSpPr>
        <p:spPr>
          <a:xfrm>
            <a:off x="9962554" y="4164359"/>
            <a:ext cx="1657350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Final Submission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